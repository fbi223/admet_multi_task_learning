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4"/>
  </p:notesMasterIdLst>
  <p:sldIdLst>
    <p:sldId id="256" r:id="rId2"/>
    <p:sldId id="257" r:id="rId3"/>
    <p:sldId id="346" r:id="rId4"/>
    <p:sldId id="347" r:id="rId5"/>
    <p:sldId id="348" r:id="rId6"/>
    <p:sldId id="349" r:id="rId7"/>
    <p:sldId id="350" r:id="rId8"/>
    <p:sldId id="259" r:id="rId9"/>
    <p:sldId id="260" r:id="rId10"/>
    <p:sldId id="277" r:id="rId11"/>
    <p:sldId id="334" r:id="rId12"/>
    <p:sldId id="337" r:id="rId13"/>
    <p:sldId id="335" r:id="rId14"/>
    <p:sldId id="270" r:id="rId15"/>
    <p:sldId id="336" r:id="rId16"/>
    <p:sldId id="339" r:id="rId17"/>
    <p:sldId id="341" r:id="rId18"/>
    <p:sldId id="343" r:id="rId19"/>
    <p:sldId id="342" r:id="rId20"/>
    <p:sldId id="344" r:id="rId21"/>
    <p:sldId id="345" r:id="rId22"/>
    <p:sldId id="338" r:id="rId23"/>
    <p:sldId id="261" r:id="rId24"/>
    <p:sldId id="264" r:id="rId25"/>
    <p:sldId id="262" r:id="rId26"/>
    <p:sldId id="265" r:id="rId27"/>
    <p:sldId id="328" r:id="rId28"/>
    <p:sldId id="268" r:id="rId29"/>
    <p:sldId id="267" r:id="rId30"/>
    <p:sldId id="269" r:id="rId31"/>
    <p:sldId id="271" r:id="rId32"/>
    <p:sldId id="272" r:id="rId33"/>
    <p:sldId id="273" r:id="rId34"/>
    <p:sldId id="275" r:id="rId35"/>
    <p:sldId id="274" r:id="rId36"/>
    <p:sldId id="276" r:id="rId37"/>
    <p:sldId id="278" r:id="rId38"/>
    <p:sldId id="279" r:id="rId39"/>
    <p:sldId id="280" r:id="rId40"/>
    <p:sldId id="281" r:id="rId41"/>
    <p:sldId id="351" r:id="rId42"/>
    <p:sldId id="285" r:id="rId43"/>
    <p:sldId id="282" r:id="rId44"/>
    <p:sldId id="283" r:id="rId45"/>
    <p:sldId id="284" r:id="rId46"/>
    <p:sldId id="286" r:id="rId47"/>
    <p:sldId id="287" r:id="rId48"/>
    <p:sldId id="288" r:id="rId49"/>
    <p:sldId id="289" r:id="rId50"/>
    <p:sldId id="290" r:id="rId51"/>
    <p:sldId id="296" r:id="rId52"/>
    <p:sldId id="352" r:id="rId53"/>
    <p:sldId id="297" r:id="rId54"/>
    <p:sldId id="298" r:id="rId55"/>
    <p:sldId id="299" r:id="rId56"/>
    <p:sldId id="354" r:id="rId57"/>
    <p:sldId id="301" r:id="rId58"/>
    <p:sldId id="302" r:id="rId59"/>
    <p:sldId id="300" r:id="rId60"/>
    <p:sldId id="325" r:id="rId61"/>
    <p:sldId id="291" r:id="rId62"/>
    <p:sldId id="294" r:id="rId63"/>
    <p:sldId id="292" r:id="rId64"/>
    <p:sldId id="295" r:id="rId65"/>
    <p:sldId id="293" r:id="rId66"/>
    <p:sldId id="332" r:id="rId67"/>
    <p:sldId id="333" r:id="rId68"/>
    <p:sldId id="303" r:id="rId69"/>
    <p:sldId id="356" r:id="rId70"/>
    <p:sldId id="306" r:id="rId71"/>
    <p:sldId id="355" r:id="rId72"/>
    <p:sldId id="307" r:id="rId73"/>
    <p:sldId id="326" r:id="rId74"/>
    <p:sldId id="304" r:id="rId75"/>
    <p:sldId id="305" r:id="rId76"/>
    <p:sldId id="308" r:id="rId77"/>
    <p:sldId id="314" r:id="rId78"/>
    <p:sldId id="316" r:id="rId79"/>
    <p:sldId id="319" r:id="rId80"/>
    <p:sldId id="327" r:id="rId81"/>
    <p:sldId id="320" r:id="rId82"/>
    <p:sldId id="321" r:id="rId83"/>
    <p:sldId id="323" r:id="rId84"/>
    <p:sldId id="322" r:id="rId85"/>
    <p:sldId id="324" r:id="rId86"/>
    <p:sldId id="329" r:id="rId87"/>
    <p:sldId id="330" r:id="rId88"/>
    <p:sldId id="331" r:id="rId89"/>
    <p:sldId id="359" r:id="rId90"/>
    <p:sldId id="358" r:id="rId91"/>
    <p:sldId id="357" r:id="rId92"/>
    <p:sldId id="258" r:id="rId9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F9B577-A8B3-4175-9A7D-0705CD62EAC8}" v="499" dt="2026-04-19T16:59:46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>
      <p:cViewPr varScale="1">
        <p:scale>
          <a:sx n="78" d="100"/>
          <a:sy n="78" d="100"/>
        </p:scale>
        <p:origin x="13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B2A44-8844-4594-8861-5806DD742DDB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35FBF-C6E8-44CE-B6DE-96043692335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9199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35FBF-C6E8-44CE-B6DE-960436923356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993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35FBF-C6E8-44CE-B6DE-960436923356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67264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35FBF-C6E8-44CE-B6DE-960436923356}" type="slidenum">
              <a:rPr lang="pl-PL" smtClean="0"/>
              <a:t>51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8370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96EAEB-68BE-C434-5A82-BCB56F387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98940CD-84E9-28A4-6BE6-9222D4B67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D19F5D6-48B7-3F52-CB24-8FA06D5BE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6872C32-5126-731A-FD10-C87BA53B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EA9A265-42B3-FBEA-06D3-243D4EC3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256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942BAA-F5DC-F5BA-7667-18725A6EE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5F102F-9C05-FF39-C8C8-53CD366F5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53B46D9-648C-64A3-3D6B-C30ECD44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23A308B-81D7-70CD-BC7E-8B2BEE67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C65929B-7B67-8762-9873-DB17D7ED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5081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4B6B79-5F49-B505-E9F3-2F2C44C7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33046A1-026E-35BA-51C4-11EEA2276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5E261B4-DC6A-5524-CBFD-5343FB12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A9C040F-D3F5-4FA0-1C12-5170B01DE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236AEE3-48C7-3474-A846-31F3A771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5277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FF73E6-2045-2276-D793-E52DC5C3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D97F9C-4BE6-48E6-766E-A88DB6405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F9F229D-26FB-41DB-376F-6DE0667A3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2CAEA6D-759A-001D-5E0D-6EB33AC7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19976CA-A9E8-8363-687A-75A2C894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80ECF17-F896-E847-740A-A44C765A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4864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25EE12-3773-D089-E8A6-2E85611D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FB8ABFA-632E-FB2D-7E19-ED54A3BE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7C26A1F-ABA3-8686-8D26-FB02E5059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83683A3-0FDB-400E-6314-64C6CA0F9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51A01C5-B1E4-1C0E-8AEC-FB7B08AB6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37EFECF-3505-EB49-6F61-4DC728F3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065F4DE-2E15-30AA-488E-1BC7D746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C282DE7-F7AF-CD11-7FCF-BECF43B4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986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2A62A6-690F-1474-EE23-5CCE0D47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73C61CA-95A3-E427-25C9-FA7BD761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87E3F19-F3A5-C5FB-E3C3-EE6B5A68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EE6537A-332A-D373-3148-2AD53A3B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9399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8E3F164-C2E1-D3A1-77ED-1119A0B1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09EEAFB-F1EB-F008-3BA6-0EF1EA53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9EF505A-544D-A1C9-1E21-007EB15F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31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C2C6FA-4CC6-6209-8D18-2A99E4C4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C6AF71B-2BF7-1479-3D2F-3B92A9CD0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C618695-E550-8937-0C21-8A5E6633B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309F8DC-0879-7888-098D-63BA0CA4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02CDD50-FC11-AC03-17A9-350A8BF2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5215B61-87BF-57E5-FE48-3225A7833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136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6315CC-1B5D-D294-594F-381E3F796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240B23F6-72C0-6641-5209-3F3489D7C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F0200F9-4944-204C-4A03-7AAF5843B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B533263-BE71-2C82-5471-F74A1B2B1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5AE29D9-6590-9D8F-59D0-D6FB2D77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1267AE8-DC94-74CA-E5E1-BFC4C2C4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062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D0C7F1-C4F3-6168-3F0D-6607010E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CDAB145-3033-23DC-9903-2E1132692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0B3356E-31E6-714A-375C-69E8513D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4551025-946E-377B-DF99-FD0577EC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1A8D5DB-B9A3-3FDD-951D-2E3E160F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325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08D4818-7EF0-B595-BE3F-9D5704676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A6A1B29-C4CA-F50E-72B0-8893ABBE1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F4FAF28-D268-5E0F-7AFC-59F113BA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EB89B45-82E7-828E-4901-A27E1E99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EAC7892-1E56-B83E-952C-F1232619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940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60BCF77-E154-320C-80DB-C65975329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DC81C5C-FE5A-BB65-EBEB-516DEE4D9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A742170-41AD-008B-F117-E9823361B4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76E7C-CD10-374F-9A65-6A8E152376C5}" type="datetimeFigureOut">
              <a:rPr lang="pl-PL" smtClean="0"/>
              <a:t>19.04.2026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ECC4A55-01B6-1422-871D-158521DEB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B0A7D7-F676-DCFE-C2F3-50533A2F9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E87D1-7747-574F-8400-6461488C647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130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6E0B688-7E7F-E28E-0061-764709933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pl-PL" sz="3100" b="1"/>
              <a:t>9. Predykcja profilu ADMET z wykorzystaniem multi-task learning</a:t>
            </a:r>
            <a:br>
              <a:rPr lang="pl-PL" sz="3100" b="1"/>
            </a:br>
            <a:endParaRPr lang="pl-PL" sz="3100" b="1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85A8EC6-C83A-711D-36F9-82FBE6EAD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1136843"/>
          </a:xfrm>
        </p:spPr>
        <p:txBody>
          <a:bodyPr>
            <a:normAutofit/>
          </a:bodyPr>
          <a:lstStyle/>
          <a:p>
            <a:r>
              <a:rPr lang="pl-PL" sz="1800"/>
              <a:t>Marcin Sztukowski</a:t>
            </a:r>
          </a:p>
          <a:p>
            <a:r>
              <a:rPr lang="pl-PL" sz="1800"/>
              <a:t>Jakub Poznanski</a:t>
            </a:r>
          </a:p>
          <a:p>
            <a:r>
              <a:rPr lang="pl-PL" sz="1800"/>
              <a:t>Michal Kopczewski</a:t>
            </a:r>
          </a:p>
        </p:txBody>
      </p:sp>
      <p:pic>
        <p:nvPicPr>
          <p:cNvPr id="4" name="Picture 4" descr="ADMET-AI">
            <a:extLst>
              <a:ext uri="{FF2B5EF4-FFF2-40B4-BE49-F238E27FC236}">
                <a16:creationId xmlns:a16="http://schemas.microsoft.com/office/drawing/2014/main" id="{5AB9E336-EA49-87B3-1837-8B0A993A6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21889" y="578738"/>
            <a:ext cx="5656372" cy="567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20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4B5BD7-8BE4-953F-3804-ACAAEC80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Predykcja profilu ADMET z Multi-Task Learning</a:t>
            </a:r>
          </a:p>
        </p:txBody>
      </p:sp>
      <p:pic>
        <p:nvPicPr>
          <p:cNvPr id="1028" name="Picture 4" descr="Lecture 12, concept 07: ADME / Tox">
            <a:extLst>
              <a:ext uri="{FF2B5EF4-FFF2-40B4-BE49-F238E27FC236}">
                <a16:creationId xmlns:a16="http://schemas.microsoft.com/office/drawing/2014/main" id="{2B152B80-D3FB-D4D7-570C-26A5A45254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1025" y="1675227"/>
            <a:ext cx="8409950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62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ADMET: An Essential Component in Drug Discovery and Development | by Santu  Chall | Medium">
            <a:extLst>
              <a:ext uri="{FF2B5EF4-FFF2-40B4-BE49-F238E27FC236}">
                <a16:creationId xmlns:a16="http://schemas.microsoft.com/office/drawing/2014/main" id="{781D5E7F-FEC7-4E5C-5170-A96DB5DDDC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94" y="352368"/>
            <a:ext cx="10768211" cy="615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014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372D3C-D782-9198-B0C5-8A5995DF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409" y="165307"/>
            <a:ext cx="10515600" cy="1325563"/>
          </a:xfrm>
        </p:spPr>
        <p:txBody>
          <a:bodyPr/>
          <a:lstStyle/>
          <a:p>
            <a:r>
              <a:rPr lang="pl-PL" b="1" dirty="0"/>
              <a:t>CO TO ADMET-PROPERTIES?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5EFA51-3BB4-5B85-FF4E-E01CA1B7D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0870"/>
            <a:ext cx="10939670" cy="50788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b="1" dirty="0"/>
              <a:t> ADMET = </a:t>
            </a:r>
            <a:r>
              <a:rPr lang="pl-PL" b="1" dirty="0" err="1"/>
              <a:t>Absorption</a:t>
            </a:r>
            <a:r>
              <a:rPr lang="pl-PL" b="1" dirty="0"/>
              <a:t>, Distribution, </a:t>
            </a:r>
            <a:r>
              <a:rPr lang="pl-PL" b="1" dirty="0" err="1"/>
              <a:t>Metabolism</a:t>
            </a:r>
            <a:r>
              <a:rPr lang="pl-PL" b="1" dirty="0"/>
              <a:t>, </a:t>
            </a:r>
            <a:r>
              <a:rPr lang="pl-PL" b="1" dirty="0" err="1"/>
              <a:t>Excretion</a:t>
            </a:r>
            <a:r>
              <a:rPr lang="pl-PL" b="1" dirty="0"/>
              <a:t>, </a:t>
            </a:r>
            <a:r>
              <a:rPr lang="pl-PL" b="1" dirty="0" err="1"/>
              <a:t>Toxicity</a:t>
            </a:r>
            <a:endParaRPr lang="pl-PL" b="1" dirty="0"/>
          </a:p>
          <a:p>
            <a:pPr marL="0" indent="0">
              <a:buNone/>
            </a:pPr>
            <a:r>
              <a:rPr lang="pl-PL" dirty="0"/>
              <a:t> Zestaw właściwości farmakokinetycznych i toksykologicznych</a:t>
            </a:r>
          </a:p>
          <a:p>
            <a:pPr marL="0" indent="0">
              <a:buNone/>
            </a:pPr>
            <a:r>
              <a:rPr lang="pl-PL" dirty="0"/>
              <a:t> Określa zachowanie leku w organizmie</a:t>
            </a:r>
          </a:p>
          <a:p>
            <a:pPr marL="0" indent="0">
              <a:buNone/>
            </a:pPr>
            <a:r>
              <a:rPr lang="pl-PL" dirty="0"/>
              <a:t> Krytyczne w projektowaniu leków (</a:t>
            </a:r>
            <a:r>
              <a:rPr lang="pl-PL" dirty="0" err="1"/>
              <a:t>drug</a:t>
            </a:r>
            <a:r>
              <a:rPr lang="pl-PL" dirty="0"/>
              <a:t> </a:t>
            </a:r>
            <a:r>
              <a:rPr lang="pl-PL" dirty="0" err="1"/>
              <a:t>discovery</a:t>
            </a:r>
            <a:r>
              <a:rPr lang="pl-PL" dirty="0"/>
              <a:t>)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 Przykłady:</a:t>
            </a:r>
          </a:p>
          <a:p>
            <a:pPr marL="0" indent="0">
              <a:buNone/>
            </a:pPr>
            <a:r>
              <a:rPr lang="pl-PL" dirty="0"/>
              <a:t>  – </a:t>
            </a:r>
            <a:r>
              <a:rPr lang="pl-PL" b="1" dirty="0" err="1"/>
              <a:t>Absorption</a:t>
            </a:r>
            <a:r>
              <a:rPr lang="pl-PL" dirty="0"/>
              <a:t> → wchłanianie (np. HIA)</a:t>
            </a:r>
          </a:p>
          <a:p>
            <a:pPr marL="0" indent="0">
              <a:buNone/>
            </a:pPr>
            <a:r>
              <a:rPr lang="pl-PL" dirty="0"/>
              <a:t>  – </a:t>
            </a:r>
            <a:r>
              <a:rPr lang="pl-PL" b="1" dirty="0"/>
              <a:t>Distribution</a:t>
            </a:r>
            <a:r>
              <a:rPr lang="pl-PL" dirty="0"/>
              <a:t> → dystrybucja (np. BBB)</a:t>
            </a:r>
          </a:p>
          <a:p>
            <a:pPr marL="0" indent="0">
              <a:buNone/>
            </a:pPr>
            <a:r>
              <a:rPr lang="pl-PL" dirty="0"/>
              <a:t> – </a:t>
            </a:r>
            <a:r>
              <a:rPr lang="pl-PL" b="1" dirty="0" err="1"/>
              <a:t>Metabolism</a:t>
            </a:r>
            <a:r>
              <a:rPr lang="pl-PL" dirty="0"/>
              <a:t> → metabolizm (np. CYP450)</a:t>
            </a:r>
          </a:p>
          <a:p>
            <a:pPr marL="0" indent="0">
              <a:buNone/>
            </a:pPr>
            <a:r>
              <a:rPr lang="pl-PL" dirty="0"/>
              <a:t> – </a:t>
            </a:r>
            <a:r>
              <a:rPr lang="pl-PL" b="1" dirty="0" err="1"/>
              <a:t>Excretion</a:t>
            </a:r>
            <a:r>
              <a:rPr lang="pl-PL" dirty="0"/>
              <a:t> → wydalanie</a:t>
            </a:r>
          </a:p>
          <a:p>
            <a:pPr marL="0" indent="0">
              <a:buNone/>
            </a:pPr>
            <a:r>
              <a:rPr lang="pl-PL" dirty="0"/>
              <a:t>  – </a:t>
            </a:r>
            <a:r>
              <a:rPr lang="pl-PL" b="1" dirty="0" err="1"/>
              <a:t>Toxicity</a:t>
            </a:r>
            <a:r>
              <a:rPr lang="pl-PL" dirty="0"/>
              <a:t> → toksyczność (np. </a:t>
            </a:r>
            <a:r>
              <a:rPr lang="pl-PL" dirty="0" err="1"/>
              <a:t>hERG</a:t>
            </a:r>
            <a:r>
              <a:rPr lang="pl-PL" dirty="0"/>
              <a:t>, DILI)</a:t>
            </a:r>
          </a:p>
        </p:txBody>
      </p:sp>
    </p:spTree>
    <p:extLst>
      <p:ext uri="{BB962C8B-B14F-4D97-AF65-F5344CB8AC3E}">
        <p14:creationId xmlns:p14="http://schemas.microsoft.com/office/powerpoint/2010/main" val="151381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ED49BF-DBA0-248C-3E50-08E89A4A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Dlaczego skupiamy się na ADMET?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5BAA48-6550-7D90-2852-52B37A892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 Wysoki koszt niepowodzeń w późnych fazach badań</a:t>
            </a:r>
          </a:p>
          <a:p>
            <a:r>
              <a:rPr lang="pl-PL" dirty="0"/>
              <a:t> ADMET jest główną przyczyną odrzucania kandydatów na leki</a:t>
            </a:r>
          </a:p>
          <a:p>
            <a:r>
              <a:rPr lang="pl-PL" dirty="0"/>
              <a:t> Wczesna predykcja → oszczędność czasu i kosztów</a:t>
            </a:r>
          </a:p>
          <a:p>
            <a:r>
              <a:rPr lang="pl-PL" dirty="0"/>
              <a:t> Ograniczenie testów in vitro / in vivo</a:t>
            </a:r>
          </a:p>
          <a:p>
            <a:r>
              <a:rPr lang="pl-PL" dirty="0"/>
              <a:t> Przyspieszenie </a:t>
            </a:r>
            <a:r>
              <a:rPr lang="pl-PL" dirty="0" err="1"/>
              <a:t>pipeline’u</a:t>
            </a:r>
            <a:r>
              <a:rPr lang="pl-PL" dirty="0"/>
              <a:t> </a:t>
            </a:r>
            <a:r>
              <a:rPr lang="pl-PL" dirty="0" err="1"/>
              <a:t>drug</a:t>
            </a:r>
            <a:r>
              <a:rPr lang="pl-PL" dirty="0"/>
              <a:t> </a:t>
            </a:r>
            <a:r>
              <a:rPr lang="pl-PL" dirty="0" err="1"/>
              <a:t>discovery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5545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BF422D-F900-F025-9637-A7DCA0A4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Problem związany z ADMET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1ABE32-BD75-2EE5-8B47-12BDEBC97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Dane </a:t>
            </a:r>
            <a:r>
              <a:rPr lang="pl-PL" dirty="0" err="1"/>
              <a:t>czesto</a:t>
            </a:r>
            <a:r>
              <a:rPr lang="pl-PL" dirty="0"/>
              <a:t> ADMET są:</a:t>
            </a:r>
          </a:p>
          <a:p>
            <a:pPr marL="0" indent="0">
              <a:buNone/>
            </a:pPr>
            <a:r>
              <a:rPr lang="pl-PL" dirty="0"/>
              <a:t>  – rozproszone (różne </a:t>
            </a:r>
            <a:r>
              <a:rPr lang="pl-PL" dirty="0" err="1"/>
              <a:t>datasety</a:t>
            </a:r>
            <a:r>
              <a:rPr lang="pl-PL" dirty="0"/>
              <a:t>)</a:t>
            </a:r>
          </a:p>
          <a:p>
            <a:pPr marL="0" indent="0">
              <a:buNone/>
            </a:pPr>
            <a:r>
              <a:rPr lang="pl-PL" dirty="0"/>
              <a:t>  – niepełne (dużo braków etykiet)</a:t>
            </a:r>
          </a:p>
          <a:p>
            <a:pPr marL="0" indent="0">
              <a:buNone/>
            </a:pPr>
            <a:r>
              <a:rPr lang="pl-PL" dirty="0"/>
              <a:t>  – niezbalansowane</a:t>
            </a:r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 Każdy </a:t>
            </a:r>
            <a:r>
              <a:rPr lang="pl-PL" dirty="0" err="1"/>
              <a:t>task</a:t>
            </a:r>
            <a:r>
              <a:rPr lang="pl-PL" dirty="0"/>
              <a:t> ma inne dane i </a:t>
            </a:r>
            <a:r>
              <a:rPr lang="pl-PL" dirty="0" err="1"/>
              <a:t>split</a:t>
            </a:r>
            <a:endParaRPr lang="pl-PL" dirty="0"/>
          </a:p>
          <a:p>
            <a:r>
              <a:rPr lang="pl-PL" dirty="0"/>
              <a:t> Raw </a:t>
            </a:r>
            <a:r>
              <a:rPr lang="pl-PL" dirty="0" err="1"/>
              <a:t>features</a:t>
            </a:r>
            <a:r>
              <a:rPr lang="pl-PL" dirty="0"/>
              <a:t> (</a:t>
            </a:r>
            <a:r>
              <a:rPr lang="pl-PL" dirty="0" err="1"/>
              <a:t>RDKit</a:t>
            </a:r>
            <a:r>
              <a:rPr lang="pl-PL" dirty="0"/>
              <a:t>, Morgan) nie separują klas</a:t>
            </a:r>
          </a:p>
          <a:p>
            <a:r>
              <a:rPr lang="pl-PL" dirty="0"/>
              <a:t> Trudne modelowanie pojedynczych </a:t>
            </a:r>
            <a:r>
              <a:rPr lang="pl-PL" dirty="0" err="1"/>
              <a:t>tasków</a:t>
            </a:r>
            <a:r>
              <a:rPr lang="pl-PL" dirty="0"/>
              <a:t> (STL)</a:t>
            </a:r>
          </a:p>
        </p:txBody>
      </p:sp>
    </p:spTree>
    <p:extLst>
      <p:ext uri="{BB962C8B-B14F-4D97-AF65-F5344CB8AC3E}">
        <p14:creationId xmlns:p14="http://schemas.microsoft.com/office/powerpoint/2010/main" val="2242882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5C111E-92A5-A32C-4583-836ABE65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Pomysł projektu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EF1B31A-13CC-DCB0-BAD6-6049E27D9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Multi-</a:t>
            </a:r>
            <a:r>
              <a:rPr lang="pl-PL" dirty="0" err="1"/>
              <a:t>Task</a:t>
            </a:r>
            <a:r>
              <a:rPr lang="pl-PL" dirty="0"/>
              <a:t> Learning (MTL) dla wielu właściwości ADMET</a:t>
            </a:r>
          </a:p>
          <a:p>
            <a:r>
              <a:rPr lang="pl-PL" dirty="0"/>
              <a:t> Jeden model → wiele </a:t>
            </a:r>
            <a:r>
              <a:rPr lang="pl-PL" dirty="0" err="1"/>
              <a:t>tasków</a:t>
            </a:r>
            <a:r>
              <a:rPr lang="pl-PL" dirty="0"/>
              <a:t> jednocześnie</a:t>
            </a:r>
          </a:p>
          <a:p>
            <a:r>
              <a:rPr lang="pl-PL" dirty="0"/>
              <a:t> Wspólny </a:t>
            </a:r>
            <a:r>
              <a:rPr lang="pl-PL" dirty="0" err="1"/>
              <a:t>encoder</a:t>
            </a:r>
            <a:r>
              <a:rPr lang="pl-PL" dirty="0"/>
              <a:t> (GNN) + osobne głowice</a:t>
            </a:r>
          </a:p>
          <a:p>
            <a:r>
              <a:rPr lang="pl-PL" dirty="0"/>
              <a:t> Wykorzystanie wspólnych wzorców chemicznych</a:t>
            </a:r>
          </a:p>
        </p:txBody>
      </p:sp>
    </p:spTree>
    <p:extLst>
      <p:ext uri="{BB962C8B-B14F-4D97-AF65-F5344CB8AC3E}">
        <p14:creationId xmlns:p14="http://schemas.microsoft.com/office/powerpoint/2010/main" val="364630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27E578-5F5C-9911-FCB4-D37C2A5E8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Dataset</a:t>
            </a:r>
            <a:r>
              <a:rPr lang="pl-PL" b="1" dirty="0"/>
              <a:t> (TDC ADMET)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61D6851-9FBC-D850-099F-DE3CFC5CC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Dataset</a:t>
            </a:r>
            <a:r>
              <a:rPr lang="pl-PL" dirty="0"/>
              <a:t> pochodzi z biblioteki TDC, która agreguje dane biologiczne z różnych eksperymentów farmaceutycznych. Każdy rekord to cząsteczka reprezentowana jako SMILES oraz etykiety dla różnych właściwości ADMET.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 err="1"/>
              <a:t>Endpointy</a:t>
            </a:r>
            <a:r>
              <a:rPr lang="pl-PL" dirty="0"/>
              <a:t> odpowiadają realnym testom biologicznym, które są wykonywane w procesie projektowania leków.</a:t>
            </a:r>
          </a:p>
        </p:txBody>
      </p:sp>
    </p:spTree>
    <p:extLst>
      <p:ext uri="{BB962C8B-B14F-4D97-AF65-F5344CB8AC3E}">
        <p14:creationId xmlns:p14="http://schemas.microsoft.com/office/powerpoint/2010/main" val="2379697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822D42-544F-26B7-1715-3A2E6759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Struktura </a:t>
            </a:r>
            <a:r>
              <a:rPr lang="pl-PL" sz="4800" b="1" dirty="0" err="1"/>
              <a:t>datasetu</a:t>
            </a:r>
            <a:r>
              <a:rPr lang="pl-PL" sz="4800" b="1" dirty="0"/>
              <a:t>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63180C-FADE-BBEA-6260-3CAD33CAE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Nasz </a:t>
            </a:r>
            <a:r>
              <a:rPr lang="pl-PL" dirty="0" err="1"/>
              <a:t>Dataset</a:t>
            </a:r>
            <a:r>
              <a:rPr lang="pl-PL" dirty="0"/>
              <a:t> typu ADMET można podzielić na 3 grupy:</a:t>
            </a:r>
          </a:p>
          <a:p>
            <a:r>
              <a:rPr lang="pl-PL" dirty="0"/>
              <a:t>Metabolizm (CYP) </a:t>
            </a:r>
          </a:p>
          <a:p>
            <a:r>
              <a:rPr lang="pl-PL" dirty="0"/>
              <a:t>Transport i bariery </a:t>
            </a:r>
          </a:p>
          <a:p>
            <a:r>
              <a:rPr lang="pl-PL" dirty="0"/>
              <a:t>Toksyczność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 err="1"/>
              <a:t>Taski</a:t>
            </a:r>
            <a:r>
              <a:rPr lang="pl-PL" dirty="0"/>
              <a:t> </a:t>
            </a:r>
            <a:r>
              <a:rPr lang="pl-PL" dirty="0" err="1"/>
              <a:t>sa</a:t>
            </a:r>
            <a:r>
              <a:rPr lang="pl-PL" dirty="0"/>
              <a:t> częściowo powiązane, reprezentują </a:t>
            </a:r>
            <a:r>
              <a:rPr lang="pl-PL" dirty="0" err="1"/>
              <a:t>rozne</a:t>
            </a:r>
            <a:r>
              <a:rPr lang="pl-PL" dirty="0"/>
              <a:t> procesy biologiczne czasami zależne od siebie</a:t>
            </a:r>
          </a:p>
        </p:txBody>
      </p:sp>
    </p:spTree>
    <p:extLst>
      <p:ext uri="{BB962C8B-B14F-4D97-AF65-F5344CB8AC3E}">
        <p14:creationId xmlns:p14="http://schemas.microsoft.com/office/powerpoint/2010/main" val="612226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557F08-CCD8-C485-73EC-0E3A930B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l-PL" b="1" dirty="0"/>
              <a:t>Problemy w łączeniu </a:t>
            </a:r>
            <a:r>
              <a:rPr lang="pl-PL" b="1" dirty="0" err="1"/>
              <a:t>endpointow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BA8D5B2-F740-78F5-1321-42573658B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060"/>
            <a:ext cx="11029122" cy="5585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/>
              <a:t>1. </a:t>
            </a:r>
            <a:r>
              <a:rPr lang="pl-PL" b="1" dirty="0" err="1"/>
              <a:t>Splity</a:t>
            </a:r>
            <a:endParaRPr lang="pl-PL" b="1" dirty="0"/>
          </a:p>
          <a:p>
            <a:r>
              <a:rPr lang="pl-PL" dirty="0" err="1"/>
              <a:t>train</a:t>
            </a:r>
            <a:r>
              <a:rPr lang="pl-PL" dirty="0"/>
              <a:t> / </a:t>
            </a:r>
            <a:r>
              <a:rPr lang="pl-PL" dirty="0" err="1"/>
              <a:t>valid</a:t>
            </a:r>
            <a:r>
              <a:rPr lang="pl-PL" dirty="0"/>
              <a:t> / test</a:t>
            </a:r>
          </a:p>
          <a:p>
            <a:r>
              <a:rPr lang="pl-PL" dirty="0"/>
              <a:t>zachowane per-</a:t>
            </a:r>
            <a:r>
              <a:rPr lang="pl-PL" dirty="0" err="1"/>
              <a:t>task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Każdy </a:t>
            </a:r>
            <a:r>
              <a:rPr lang="pl-PL" dirty="0" err="1"/>
              <a:t>task</a:t>
            </a:r>
            <a:r>
              <a:rPr lang="pl-PL" dirty="0"/>
              <a:t> ma </a:t>
            </a:r>
            <a:r>
              <a:rPr lang="pl-PL" dirty="0" err="1"/>
              <a:t>wlasny</a:t>
            </a:r>
            <a:r>
              <a:rPr lang="pl-PL" dirty="0"/>
              <a:t> </a:t>
            </a:r>
            <a:r>
              <a:rPr lang="pl-PL" dirty="0" err="1"/>
              <a:t>podzial</a:t>
            </a:r>
            <a:r>
              <a:rPr lang="pl-PL" dirty="0"/>
              <a:t> na zbiory, możliwy data </a:t>
            </a:r>
            <a:r>
              <a:rPr lang="pl-PL" dirty="0" err="1"/>
              <a:t>leakage</a:t>
            </a:r>
            <a:r>
              <a:rPr lang="pl-PL" dirty="0"/>
              <a:t> podczas trenowania. </a:t>
            </a:r>
            <a:r>
              <a:rPr lang="pl-PL" dirty="0" err="1"/>
              <a:t>Czasteczka</a:t>
            </a:r>
            <a:r>
              <a:rPr lang="pl-PL" dirty="0"/>
              <a:t> w jednym </a:t>
            </a:r>
            <a:r>
              <a:rPr lang="pl-PL" dirty="0" err="1"/>
              <a:t>tasku</a:t>
            </a:r>
            <a:r>
              <a:rPr lang="pl-PL" dirty="0"/>
              <a:t> jest jako treningowa a w drugim jest jako </a:t>
            </a:r>
            <a:r>
              <a:rPr lang="pl-PL" dirty="0" err="1"/>
              <a:t>validate</a:t>
            </a:r>
            <a:r>
              <a:rPr lang="pl-PL" dirty="0"/>
              <a:t> albo test</a:t>
            </a:r>
          </a:p>
          <a:p>
            <a:pPr marL="0" indent="0">
              <a:buNone/>
            </a:pPr>
            <a:r>
              <a:rPr lang="pl-PL" b="1" dirty="0"/>
              <a:t>2. </a:t>
            </a:r>
            <a:r>
              <a:rPr lang="pl-PL" b="1" dirty="0" err="1"/>
              <a:t>Sparsity</a:t>
            </a:r>
            <a:r>
              <a:rPr lang="pl-PL" b="1" dirty="0"/>
              <a:t> danych</a:t>
            </a:r>
          </a:p>
          <a:p>
            <a:pPr marL="0" indent="0">
              <a:buNone/>
            </a:pPr>
            <a:r>
              <a:rPr lang="pl-PL" dirty="0"/>
              <a:t>Nie </a:t>
            </a:r>
            <a:r>
              <a:rPr lang="pl-PL" dirty="0" err="1"/>
              <a:t>kazda</a:t>
            </a:r>
            <a:r>
              <a:rPr lang="pl-PL" dirty="0"/>
              <a:t> </a:t>
            </a:r>
            <a:r>
              <a:rPr lang="pl-PL" dirty="0" err="1"/>
              <a:t>czasteczka</a:t>
            </a:r>
            <a:r>
              <a:rPr lang="pl-PL" dirty="0"/>
              <a:t> </a:t>
            </a:r>
            <a:r>
              <a:rPr lang="pl-PL" dirty="0" err="1"/>
              <a:t>wystepuje</a:t>
            </a:r>
            <a:r>
              <a:rPr lang="pl-PL" dirty="0"/>
              <a:t> w każdym </a:t>
            </a:r>
            <a:r>
              <a:rPr lang="pl-PL" dirty="0" err="1"/>
              <a:t>datasecie</a:t>
            </a:r>
            <a:r>
              <a:rPr lang="pl-PL" dirty="0"/>
              <a:t> czy </a:t>
            </a:r>
            <a:r>
              <a:rPr lang="pl-PL" dirty="0" err="1"/>
              <a:t>tasku</a:t>
            </a:r>
            <a:r>
              <a:rPr lang="pl-PL" dirty="0"/>
              <a:t> </a:t>
            </a:r>
          </a:p>
          <a:p>
            <a:pPr marL="0" indent="0">
              <a:buNone/>
            </a:pPr>
            <a:r>
              <a:rPr lang="pl-PL" dirty="0"/>
              <a:t>Problemem to brak etykiet  dlatego stosujemy </a:t>
            </a:r>
            <a:r>
              <a:rPr lang="pl-PL" dirty="0" err="1"/>
              <a:t>mask</a:t>
            </a:r>
            <a:r>
              <a:rPr lang="pl-PL" dirty="0"/>
              <a:t> w funkcji straty.</a:t>
            </a:r>
          </a:p>
          <a:p>
            <a:pPr marL="0" indent="0">
              <a:buNone/>
            </a:pPr>
            <a:r>
              <a:rPr lang="pl-PL" b="1" dirty="0"/>
              <a:t>3. Balans klas oraz pokrycie  </a:t>
            </a:r>
            <a:r>
              <a:rPr lang="pl-PL" b="1" dirty="0" err="1"/>
              <a:t>taskow</a:t>
            </a:r>
            <a:endParaRPr lang="pl-PL" b="1" dirty="0"/>
          </a:p>
          <a:p>
            <a:pPr marL="0" indent="0">
              <a:buNone/>
            </a:pPr>
            <a:r>
              <a:rPr lang="pl-PL" dirty="0"/>
              <a:t>Klasy </a:t>
            </a:r>
            <a:r>
              <a:rPr lang="pl-PL" dirty="0" err="1"/>
              <a:t>sa</a:t>
            </a:r>
            <a:r>
              <a:rPr lang="pl-PL" dirty="0"/>
              <a:t> często niezbalansowane i istnieje mało pokrycia per </a:t>
            </a:r>
            <a:r>
              <a:rPr lang="pl-PL" dirty="0" err="1"/>
              <a:t>task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80673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7960AA-A424-42B0-C26F-167B5119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/>
              <a:t>1. PROBLEM SPLITS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1CB811-19D2-DE4E-EE2E-7351E5CCA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SPLIT SIZES </a:t>
            </a:r>
            <a:br>
              <a:rPr lang="pl-PL" dirty="0"/>
            </a:br>
            <a:r>
              <a:rPr lang="pl-PL" dirty="0"/>
              <a:t>Train: 18898</a:t>
            </a:r>
            <a:br>
              <a:rPr lang="pl-PL" dirty="0"/>
            </a:br>
            <a:r>
              <a:rPr lang="pl-PL" dirty="0" err="1"/>
              <a:t>Valid</a:t>
            </a:r>
            <a:r>
              <a:rPr lang="pl-PL" dirty="0"/>
              <a:t>: 5863</a:t>
            </a:r>
            <a:br>
              <a:rPr lang="pl-PL" dirty="0"/>
            </a:br>
            <a:r>
              <a:rPr lang="pl-PL" dirty="0"/>
              <a:t>Test : 10123</a:t>
            </a:r>
            <a:br>
              <a:rPr lang="pl-PL" dirty="0"/>
            </a:br>
            <a:endParaRPr lang="pl-PL" dirty="0"/>
          </a:p>
          <a:p>
            <a:r>
              <a:rPr lang="pl-PL" b="1" dirty="0"/>
              <a:t>DATA LEAKAGE CHECK </a:t>
            </a:r>
            <a:br>
              <a:rPr lang="pl-PL" dirty="0"/>
            </a:br>
            <a:r>
              <a:rPr lang="pl-PL" dirty="0"/>
              <a:t>Train ∩ Val: 0</a:t>
            </a:r>
            <a:br>
              <a:rPr lang="pl-PL" dirty="0"/>
            </a:br>
            <a:r>
              <a:rPr lang="pl-PL" dirty="0"/>
              <a:t>Train ∩ Test: 0</a:t>
            </a:r>
            <a:br>
              <a:rPr lang="pl-PL" dirty="0"/>
            </a:br>
            <a:r>
              <a:rPr lang="pl-PL" dirty="0"/>
              <a:t>Val   ∩ Test: 0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39328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4C0A2C-CEB2-5ADF-9FE5-32FCC784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9"/>
            <a:ext cx="10515600" cy="1325563"/>
          </a:xfrm>
        </p:spPr>
        <p:txBody>
          <a:bodyPr/>
          <a:lstStyle/>
          <a:p>
            <a:r>
              <a:rPr lang="pl-PL" b="1" dirty="0"/>
              <a:t>2. PROBLEM DATA SPARSITY 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3D4028-B50F-E6D4-6282-DA7566970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9896"/>
            <a:ext cx="10681252" cy="4842979"/>
          </a:xfrm>
        </p:spPr>
        <p:txBody>
          <a:bodyPr/>
          <a:lstStyle/>
          <a:p>
            <a:pPr marL="0" indent="0">
              <a:buNone/>
            </a:pPr>
            <a:r>
              <a:rPr lang="pl-PL" b="1" dirty="0"/>
              <a:t>LABEL SPARSITY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/>
              <a:t>cyp2c19_veith         | missing: 10031/18898 	| </a:t>
            </a:r>
            <a:r>
              <a:rPr lang="pl-PL" dirty="0" err="1"/>
              <a:t>sparsity</a:t>
            </a:r>
            <a:r>
              <a:rPr lang="pl-PL" dirty="0"/>
              <a:t>: 0.531</a:t>
            </a:r>
            <a:br>
              <a:rPr lang="pl-PL" dirty="0"/>
            </a:br>
            <a:r>
              <a:rPr lang="pl-PL" dirty="0"/>
              <a:t>cyp2d6_veith           | missing:  9707/18898		 | </a:t>
            </a:r>
            <a:r>
              <a:rPr lang="pl-PL" dirty="0" err="1"/>
              <a:t>sparsity</a:t>
            </a:r>
            <a:r>
              <a:rPr lang="pl-PL" dirty="0"/>
              <a:t>: 0.514</a:t>
            </a:r>
            <a:br>
              <a:rPr lang="pl-PL" dirty="0"/>
            </a:br>
            <a:r>
              <a:rPr lang="pl-PL" dirty="0"/>
              <a:t>cyp3a4_veith           | missing: 10268/18898		 | </a:t>
            </a:r>
            <a:r>
              <a:rPr lang="pl-PL" dirty="0" err="1"/>
              <a:t>sparsity</a:t>
            </a:r>
            <a:r>
              <a:rPr lang="pl-PL" dirty="0"/>
              <a:t>: 0.543</a:t>
            </a:r>
            <a:br>
              <a:rPr lang="pl-PL" dirty="0"/>
            </a:br>
            <a:r>
              <a:rPr lang="pl-PL" dirty="0"/>
              <a:t>cyp1a2_veith           | missing: 10092/18898 	| </a:t>
            </a:r>
            <a:r>
              <a:rPr lang="pl-PL" dirty="0" err="1"/>
              <a:t>sparsity</a:t>
            </a:r>
            <a:r>
              <a:rPr lang="pl-PL" dirty="0"/>
              <a:t>: 0.534</a:t>
            </a:r>
            <a:br>
              <a:rPr lang="pl-PL" dirty="0"/>
            </a:br>
            <a:r>
              <a:rPr lang="pl-PL" dirty="0"/>
              <a:t>cyp2c9_veith           | missing: 10432/18898 	| </a:t>
            </a:r>
            <a:r>
              <a:rPr lang="pl-PL" dirty="0" err="1"/>
              <a:t>sparsity</a:t>
            </a:r>
            <a:r>
              <a:rPr lang="pl-PL" dirty="0"/>
              <a:t>: 0.552</a:t>
            </a:r>
            <a:br>
              <a:rPr lang="pl-PL" dirty="0"/>
            </a:br>
            <a:r>
              <a:rPr lang="pl-PL" dirty="0" err="1"/>
              <a:t>hia_hou</a:t>
            </a:r>
            <a:r>
              <a:rPr lang="pl-PL" dirty="0"/>
              <a:t>             	 | missing: 18491/18898		 | </a:t>
            </a:r>
            <a:r>
              <a:rPr lang="pl-PL" dirty="0" err="1"/>
              <a:t>sparsity</a:t>
            </a:r>
            <a:r>
              <a:rPr lang="pl-PL" dirty="0"/>
              <a:t>: 0.978</a:t>
            </a:r>
            <a:br>
              <a:rPr lang="pl-PL" dirty="0"/>
            </a:br>
            <a:r>
              <a:rPr lang="pl-PL" dirty="0" err="1"/>
              <a:t>pgp_broccatelli</a:t>
            </a:r>
            <a:r>
              <a:rPr lang="pl-PL" dirty="0"/>
              <a:t>      | missing: 18045/18898 	| </a:t>
            </a:r>
            <a:r>
              <a:rPr lang="pl-PL" dirty="0" err="1"/>
              <a:t>sparsity</a:t>
            </a:r>
            <a:r>
              <a:rPr lang="pl-PL" dirty="0"/>
              <a:t>: 0.955</a:t>
            </a:r>
            <a:br>
              <a:rPr lang="pl-PL" dirty="0"/>
            </a:br>
            <a:r>
              <a:rPr lang="pl-PL" dirty="0" err="1"/>
              <a:t>bbb_martins</a:t>
            </a:r>
            <a:r>
              <a:rPr lang="pl-PL" dirty="0"/>
              <a:t>            | missing: 17477/18898 	| </a:t>
            </a:r>
            <a:r>
              <a:rPr lang="pl-PL" dirty="0" err="1"/>
              <a:t>sparsity</a:t>
            </a:r>
            <a:r>
              <a:rPr lang="pl-PL" dirty="0"/>
              <a:t>: 0.925</a:t>
            </a:r>
            <a:br>
              <a:rPr lang="pl-PL" dirty="0"/>
            </a:br>
            <a:r>
              <a:rPr lang="pl-PL" dirty="0" err="1"/>
              <a:t>herg</a:t>
            </a:r>
            <a:r>
              <a:rPr lang="pl-PL" dirty="0"/>
              <a:t>             	              | missing: 18438/18898 	| </a:t>
            </a:r>
            <a:r>
              <a:rPr lang="pl-PL" dirty="0" err="1"/>
              <a:t>sparsity</a:t>
            </a:r>
            <a:r>
              <a:rPr lang="pl-PL" dirty="0"/>
              <a:t>: 0.976</a:t>
            </a:r>
            <a:br>
              <a:rPr lang="pl-PL" dirty="0"/>
            </a:br>
            <a:r>
              <a:rPr lang="pl-PL" dirty="0" err="1"/>
              <a:t>dili</a:t>
            </a:r>
            <a:r>
              <a:rPr lang="pl-PL" dirty="0"/>
              <a:t>                   	 | missing: 18565/18898		 | </a:t>
            </a:r>
            <a:r>
              <a:rPr lang="pl-PL" dirty="0" err="1"/>
              <a:t>sparsity</a:t>
            </a:r>
            <a:r>
              <a:rPr lang="pl-PL" dirty="0"/>
              <a:t>: 0.982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53929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DB6B85-EF78-2760-BB07-E6B934EC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888"/>
            <a:ext cx="10515600" cy="1325563"/>
          </a:xfrm>
        </p:spPr>
        <p:txBody>
          <a:bodyPr/>
          <a:lstStyle/>
          <a:p>
            <a:r>
              <a:rPr lang="pl-PL" b="1" dirty="0"/>
              <a:t>3. CLASS BALANCE AND TASK COVERAGE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150BD42-7149-793C-8DC3-11F697CA4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6099314" cy="4843532"/>
          </a:xfrm>
        </p:spPr>
        <p:txBody>
          <a:bodyPr/>
          <a:lstStyle/>
          <a:p>
            <a:pPr marL="0" indent="0">
              <a:buNone/>
            </a:pPr>
            <a:r>
              <a:rPr lang="pl-PL" b="1" dirty="0"/>
              <a:t>CLASS BALANCE 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/>
              <a:t>cyp2c19_veith        | 0: 4804 | 	1: 4063</a:t>
            </a:r>
            <a:br>
              <a:rPr lang="pl-PL" dirty="0"/>
            </a:br>
            <a:r>
              <a:rPr lang="pl-PL" dirty="0"/>
              <a:t>cyp2d6_veith          | 0: 7425 | 	1: 1766</a:t>
            </a:r>
            <a:br>
              <a:rPr lang="pl-PL" dirty="0"/>
            </a:br>
            <a:r>
              <a:rPr lang="pl-PL" dirty="0"/>
              <a:t>cyp3a4_veith          | 0: 5053 |	 1: 3577</a:t>
            </a:r>
            <a:br>
              <a:rPr lang="pl-PL" dirty="0"/>
            </a:br>
            <a:r>
              <a:rPr lang="pl-PL" dirty="0"/>
              <a:t>cyp1a2_veith          | 0: 4746 | 	1: 4060</a:t>
            </a:r>
            <a:br>
              <a:rPr lang="pl-PL" dirty="0"/>
            </a:br>
            <a:r>
              <a:rPr lang="pl-PL" dirty="0"/>
              <a:t>cyp2c9_veith          | 0: 5653 | 	1: 2813</a:t>
            </a:r>
            <a:br>
              <a:rPr lang="pl-PL" dirty="0"/>
            </a:br>
            <a:r>
              <a:rPr lang="pl-PL" dirty="0" err="1"/>
              <a:t>hia_hou</a:t>
            </a:r>
            <a:r>
              <a:rPr lang="pl-PL" dirty="0"/>
              <a:t>             	| 0: 53 | 	1: 354</a:t>
            </a:r>
            <a:br>
              <a:rPr lang="pl-PL" dirty="0"/>
            </a:br>
            <a:r>
              <a:rPr lang="pl-PL" dirty="0" err="1"/>
              <a:t>pgp_broccatelli</a:t>
            </a:r>
            <a:r>
              <a:rPr lang="pl-PL" dirty="0"/>
              <a:t>     | 0: 392 | 	1: 461</a:t>
            </a:r>
            <a:br>
              <a:rPr lang="pl-PL" dirty="0"/>
            </a:br>
            <a:r>
              <a:rPr lang="pl-PL" dirty="0" err="1"/>
              <a:t>bbb_martins</a:t>
            </a:r>
            <a:r>
              <a:rPr lang="pl-PL" dirty="0"/>
              <a:t>           | 0: 325 | 	1: 1096</a:t>
            </a:r>
            <a:br>
              <a:rPr lang="pl-PL" dirty="0"/>
            </a:br>
            <a:r>
              <a:rPr lang="pl-PL" dirty="0" err="1"/>
              <a:t>herg</a:t>
            </a:r>
            <a:r>
              <a:rPr lang="pl-PL" dirty="0"/>
              <a:t>               		| 0: 149 | 	1: 311</a:t>
            </a:r>
            <a:br>
              <a:rPr lang="pl-PL" dirty="0"/>
            </a:br>
            <a:r>
              <a:rPr lang="pl-PL" dirty="0" err="1"/>
              <a:t>dili</a:t>
            </a:r>
            <a:r>
              <a:rPr lang="pl-PL" dirty="0"/>
              <a:t>                 		| 0: 171 | 	1: 162</a:t>
            </a:r>
          </a:p>
          <a:p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B9D3399-5CC4-4E59-6743-51C69A861139}"/>
              </a:ext>
            </a:extLst>
          </p:cNvPr>
          <p:cNvSpPr txBox="1"/>
          <p:nvPr/>
        </p:nvSpPr>
        <p:spPr>
          <a:xfrm>
            <a:off x="7600949" y="1527451"/>
            <a:ext cx="44220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000" b="1" dirty="0"/>
              <a:t> TASK COVERAGE </a:t>
            </a:r>
          </a:p>
          <a:p>
            <a:endParaRPr lang="pl-PL" sz="3000" b="1" dirty="0"/>
          </a:p>
          <a:p>
            <a:r>
              <a:rPr lang="pl-PL" sz="2400" b="1" dirty="0" err="1"/>
              <a:t>Avg</a:t>
            </a:r>
            <a:r>
              <a:rPr lang="pl-PL" sz="2400" b="1" dirty="0"/>
              <a:t> </a:t>
            </a:r>
            <a:r>
              <a:rPr lang="pl-PL" sz="2400" b="1" dirty="0" err="1"/>
              <a:t>labels</a:t>
            </a:r>
            <a:r>
              <a:rPr lang="pl-PL" sz="2400" b="1" dirty="0"/>
              <a:t> per </a:t>
            </a:r>
            <a:r>
              <a:rPr lang="pl-PL" sz="2400" b="1" dirty="0" err="1"/>
              <a:t>sample</a:t>
            </a:r>
            <a:r>
              <a:rPr lang="pl-PL" sz="2400" b="1" dirty="0"/>
              <a:t>: 2.5/10</a:t>
            </a:r>
          </a:p>
        </p:txBody>
      </p:sp>
    </p:spTree>
    <p:extLst>
      <p:ext uri="{BB962C8B-B14F-4D97-AF65-F5344CB8AC3E}">
        <p14:creationId xmlns:p14="http://schemas.microsoft.com/office/powerpoint/2010/main" val="1457787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23A6C80-FC00-0B20-D444-437761FA5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5196" b="1072"/>
          <a:stretch>
            <a:fillRect/>
          </a:stretch>
        </p:blipFill>
        <p:spPr>
          <a:xfrm>
            <a:off x="20" y="-198415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58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186499CE-4A9F-A420-AA04-9BE7A7476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881" y="924031"/>
            <a:ext cx="11620238" cy="46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60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12CAB3-DA95-1F64-D865-14357FED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Wnioski z obserwacji problemów danych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9C08D25-96A5-C68F-E764-BC43A69D5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 Brak globalnego </a:t>
            </a:r>
            <a:r>
              <a:rPr lang="pl-PL" dirty="0" err="1"/>
              <a:t>splitu</a:t>
            </a:r>
            <a:r>
              <a:rPr lang="pl-PL" dirty="0"/>
              <a:t> po SMILES → ryzyko </a:t>
            </a:r>
            <a:r>
              <a:rPr lang="pl-PL" dirty="0" err="1"/>
              <a:t>leakage</a:t>
            </a:r>
            <a:r>
              <a:rPr lang="pl-PL" dirty="0"/>
              <a:t> między </a:t>
            </a:r>
            <a:r>
              <a:rPr lang="pl-PL" dirty="0" err="1"/>
              <a:t>taskami</a:t>
            </a:r>
            <a:endParaRPr lang="pl-PL" dirty="0"/>
          </a:p>
          <a:p>
            <a:r>
              <a:rPr lang="pl-PL" dirty="0"/>
              <a:t> Wysoka </a:t>
            </a:r>
            <a:r>
              <a:rPr lang="pl-PL" dirty="0" err="1"/>
              <a:t>sparsity</a:t>
            </a:r>
            <a:r>
              <a:rPr lang="pl-PL" dirty="0"/>
              <a:t> → większość próbek ma niepełne etykiety</a:t>
            </a:r>
          </a:p>
          <a:p>
            <a:r>
              <a:rPr lang="pl-PL" dirty="0"/>
              <a:t> Niskie pokrycie </a:t>
            </a:r>
            <a:r>
              <a:rPr lang="pl-PL" dirty="0" err="1"/>
              <a:t>tasków</a:t>
            </a:r>
            <a:r>
              <a:rPr lang="pl-PL" dirty="0"/>
              <a:t> per próbka → mało wspólnych przykładów</a:t>
            </a:r>
          </a:p>
          <a:p>
            <a:r>
              <a:rPr lang="pl-PL" dirty="0"/>
              <a:t> Silny </a:t>
            </a:r>
            <a:r>
              <a:rPr lang="pl-PL" dirty="0" err="1"/>
              <a:t>class</a:t>
            </a:r>
            <a:r>
              <a:rPr lang="pl-PL" dirty="0"/>
              <a:t> </a:t>
            </a:r>
            <a:r>
              <a:rPr lang="pl-PL" dirty="0" err="1"/>
              <a:t>imbalance</a:t>
            </a:r>
            <a:r>
              <a:rPr lang="pl-PL" dirty="0"/>
              <a:t> → </a:t>
            </a:r>
            <a:r>
              <a:rPr lang="pl-PL" dirty="0" err="1"/>
              <a:t>bias</a:t>
            </a:r>
            <a:r>
              <a:rPr lang="pl-PL" dirty="0"/>
              <a:t> w kierunku klasy dominującej</a:t>
            </a:r>
          </a:p>
        </p:txBody>
      </p:sp>
    </p:spTree>
    <p:extLst>
      <p:ext uri="{BB962C8B-B14F-4D97-AF65-F5344CB8AC3E}">
        <p14:creationId xmlns:p14="http://schemas.microsoft.com/office/powerpoint/2010/main" val="1402721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69ACF4-FBE0-7B64-8005-208587B5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TSNE dla związków chemicznych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00F9C1-D508-DA9F-2CC3-B220A5757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9800" cy="4351338"/>
          </a:xfrm>
        </p:spPr>
        <p:txBody>
          <a:bodyPr/>
          <a:lstStyle/>
          <a:p>
            <a:pPr marL="0" indent="0">
              <a:buNone/>
            </a:pPr>
            <a:r>
              <a:rPr lang="pl-PL" b="1" dirty="0"/>
              <a:t>1 = </a:t>
            </a:r>
            <a:r>
              <a:rPr lang="pl-PL" b="1" dirty="0" err="1"/>
              <a:t>active</a:t>
            </a:r>
            <a:r>
              <a:rPr lang="pl-PL" b="1" dirty="0"/>
              <a:t> </a:t>
            </a:r>
            <a:r>
              <a:rPr lang="pl-PL" dirty="0"/>
              <a:t>→ ma daną właściwość (pozytywna klasa dla danego taska )</a:t>
            </a:r>
            <a:br>
              <a:rPr lang="pl-PL" dirty="0"/>
            </a:br>
            <a:r>
              <a:rPr lang="pl-PL" b="1" dirty="0"/>
              <a:t>0 = </a:t>
            </a:r>
            <a:r>
              <a:rPr lang="pl-PL" b="1" dirty="0" err="1"/>
              <a:t>inactive</a:t>
            </a:r>
            <a:r>
              <a:rPr lang="pl-PL" b="1" dirty="0"/>
              <a:t> </a:t>
            </a:r>
            <a:r>
              <a:rPr lang="pl-PL" dirty="0"/>
              <a:t>→ nie ma tej właściwości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b="1" dirty="0"/>
              <a:t>jeśli dwa punkty są blisko: → podobne molekuły (wg cech)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brak separacji miedzy klasami – potrzeba jakiegoś modelu MTL</a:t>
            </a:r>
          </a:p>
        </p:txBody>
      </p:sp>
    </p:spTree>
    <p:extLst>
      <p:ext uri="{BB962C8B-B14F-4D97-AF65-F5344CB8AC3E}">
        <p14:creationId xmlns:p14="http://schemas.microsoft.com/office/powerpoint/2010/main" val="498120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043F9B68-9F58-5109-0C0B-B3200D71D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9965" y="0"/>
            <a:ext cx="8229600" cy="6858000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AA6609F6-2C2F-F1C1-9A49-7FCD52B2675C}"/>
              </a:ext>
            </a:extLst>
          </p:cNvPr>
          <p:cNvSpPr txBox="1"/>
          <p:nvPr/>
        </p:nvSpPr>
        <p:spPr>
          <a:xfrm>
            <a:off x="7376295" y="1073616"/>
            <a:ext cx="46836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2400" b="1" dirty="0"/>
              <a:t>Morgan</a:t>
            </a:r>
          </a:p>
          <a:p>
            <a:pPr rtl="0">
              <a:buNone/>
            </a:pPr>
            <a:r>
              <a:rPr lang="pl-PL" sz="2400" dirty="0">
                <a:latin typeface="Courier New" panose="02070309020205020404" pitchFamily="49" charset="0"/>
              </a:rPr>
              <a:t>punkt = wektor 1024 bitów (</a:t>
            </a:r>
            <a:r>
              <a:rPr lang="pl-PL" sz="2400" dirty="0" err="1">
                <a:latin typeface="Courier New" panose="02070309020205020404" pitchFamily="49" charset="0"/>
              </a:rPr>
              <a:t>fingerprint</a:t>
            </a:r>
            <a:r>
              <a:rPr lang="pl-PL" sz="2400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endParaRPr lang="pl-PL" sz="2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pl-PL" sz="2400" b="1" dirty="0"/>
              <a:t>interpretacja</a:t>
            </a:r>
            <a:r>
              <a:rPr lang="pl-PL" sz="2400" dirty="0"/>
              <a:t>:</a:t>
            </a:r>
          </a:p>
          <a:p>
            <a:pPr rtl="0">
              <a:buNone/>
            </a:pPr>
            <a:r>
              <a:rPr lang="pl-PL" sz="2400" dirty="0">
                <a:latin typeface="Courier New" panose="02070309020205020404" pitchFamily="49" charset="0"/>
              </a:rPr>
              <a:t>bit = 1 → fragment struktury istnieje</a:t>
            </a:r>
            <a:br>
              <a:rPr lang="pl-PL" sz="2400" dirty="0">
                <a:latin typeface="Courier New" panose="02070309020205020404" pitchFamily="49" charset="0"/>
              </a:rPr>
            </a:br>
            <a:r>
              <a:rPr lang="pl-PL" sz="2400" dirty="0">
                <a:latin typeface="Courier New" panose="02070309020205020404" pitchFamily="49" charset="0"/>
              </a:rPr>
              <a:t>bit = 0 → brak fragmentu</a:t>
            </a:r>
          </a:p>
          <a:p>
            <a:pPr rtl="0">
              <a:buNone/>
            </a:pPr>
            <a:endParaRPr lang="pl-PL" sz="2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pl-PL" sz="2400" b="1" dirty="0"/>
              <a:t>czyli:</a:t>
            </a:r>
          </a:p>
          <a:p>
            <a:pPr rtl="0">
              <a:buNone/>
            </a:pPr>
            <a:r>
              <a:rPr lang="pl-PL" sz="2400" dirty="0">
                <a:latin typeface="Courier New" panose="02070309020205020404" pitchFamily="49" charset="0"/>
              </a:rPr>
              <a:t>punkt = reprezentacja struktury molekuły</a:t>
            </a:r>
          </a:p>
        </p:txBody>
      </p:sp>
    </p:spTree>
    <p:extLst>
      <p:ext uri="{BB962C8B-B14F-4D97-AF65-F5344CB8AC3E}">
        <p14:creationId xmlns:p14="http://schemas.microsoft.com/office/powerpoint/2010/main" val="2046337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1187B6C5-65A5-4EA9-CDAB-EA0203FEF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8287" y="0"/>
            <a:ext cx="8229600" cy="6858000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DD139997-0E9A-1F75-BEF3-28E090667B64}"/>
              </a:ext>
            </a:extLst>
          </p:cNvPr>
          <p:cNvSpPr txBox="1"/>
          <p:nvPr/>
        </p:nvSpPr>
        <p:spPr>
          <a:xfrm>
            <a:off x="7584440" y="612844"/>
            <a:ext cx="41808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2400" b="1" dirty="0" err="1"/>
              <a:t>RDKit</a:t>
            </a:r>
            <a:endParaRPr lang="pl-PL" sz="2400" b="1" dirty="0"/>
          </a:p>
          <a:p>
            <a:pPr rtl="0">
              <a:buNone/>
            </a:pPr>
            <a:r>
              <a:rPr lang="pl-PL" sz="2400" dirty="0">
                <a:latin typeface="Courier New" panose="02070309020205020404" pitchFamily="49" charset="0"/>
              </a:rPr>
              <a:t>punkt = wektor ~200 deskryptorów</a:t>
            </a:r>
          </a:p>
          <a:p>
            <a:pPr rtl="0">
              <a:buNone/>
            </a:pPr>
            <a:endParaRPr lang="pl-PL" sz="2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pl-PL" sz="2400" b="1" dirty="0"/>
              <a:t>np.:</a:t>
            </a:r>
          </a:p>
          <a:p>
            <a:pPr rtl="0">
              <a:buNone/>
            </a:pPr>
            <a:r>
              <a:rPr lang="pl-PL" sz="2400" dirty="0">
                <a:latin typeface="Courier New" panose="02070309020205020404" pitchFamily="49" charset="0"/>
              </a:rPr>
              <a:t>masa</a:t>
            </a:r>
            <a:br>
              <a:rPr lang="pl-PL" sz="2400" dirty="0">
                <a:latin typeface="Courier New" panose="02070309020205020404" pitchFamily="49" charset="0"/>
              </a:rPr>
            </a:br>
            <a:r>
              <a:rPr lang="pl-PL" sz="2400" dirty="0" err="1">
                <a:latin typeface="Courier New" panose="02070309020205020404" pitchFamily="49" charset="0"/>
              </a:rPr>
              <a:t>logP</a:t>
            </a:r>
            <a:br>
              <a:rPr lang="pl-PL" sz="2400" dirty="0">
                <a:latin typeface="Courier New" panose="02070309020205020404" pitchFamily="49" charset="0"/>
              </a:rPr>
            </a:br>
            <a:r>
              <a:rPr lang="pl-PL" sz="2400" dirty="0">
                <a:latin typeface="Courier New" panose="02070309020205020404" pitchFamily="49" charset="0"/>
              </a:rPr>
              <a:t>liczba wiązań</a:t>
            </a:r>
            <a:br>
              <a:rPr lang="pl-PL" sz="2400" dirty="0">
                <a:latin typeface="Courier New" panose="02070309020205020404" pitchFamily="49" charset="0"/>
              </a:rPr>
            </a:br>
            <a:r>
              <a:rPr lang="pl-PL" sz="2400" dirty="0">
                <a:latin typeface="Courier New" panose="02070309020205020404" pitchFamily="49" charset="0"/>
              </a:rPr>
              <a:t>TPSA</a:t>
            </a:r>
            <a:br>
              <a:rPr lang="pl-PL" sz="2400" dirty="0">
                <a:latin typeface="Courier New" panose="02070309020205020404" pitchFamily="49" charset="0"/>
              </a:rPr>
            </a:br>
            <a:r>
              <a:rPr lang="pl-PL" sz="2400" dirty="0">
                <a:latin typeface="Courier New" panose="02070309020205020404" pitchFamily="49" charset="0"/>
              </a:rPr>
              <a:t>itd.</a:t>
            </a:r>
          </a:p>
          <a:p>
            <a:pPr rtl="0">
              <a:buNone/>
            </a:pPr>
            <a:endParaRPr lang="pl-PL" sz="2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pl-PL" sz="2400" b="1" dirty="0"/>
              <a:t>czyli:</a:t>
            </a:r>
          </a:p>
          <a:p>
            <a:pPr rtl="0">
              <a:buNone/>
            </a:pPr>
            <a:r>
              <a:rPr lang="pl-PL" sz="2400" dirty="0">
                <a:latin typeface="Courier New" panose="02070309020205020404" pitchFamily="49" charset="0"/>
              </a:rPr>
              <a:t>punkt = fizykochemiczny opis molekuły</a:t>
            </a:r>
          </a:p>
        </p:txBody>
      </p:sp>
    </p:spTree>
    <p:extLst>
      <p:ext uri="{BB962C8B-B14F-4D97-AF65-F5344CB8AC3E}">
        <p14:creationId xmlns:p14="http://schemas.microsoft.com/office/powerpoint/2010/main" val="3319225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C8E100F4-A9E8-A2B6-32C9-524A4C89D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1975" y="0"/>
            <a:ext cx="8229600" cy="6858000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B7E441F4-76FA-913C-2D3D-D0A04C0229D7}"/>
              </a:ext>
            </a:extLst>
          </p:cNvPr>
          <p:cNvSpPr txBox="1"/>
          <p:nvPr/>
        </p:nvSpPr>
        <p:spPr>
          <a:xfrm>
            <a:off x="7526020" y="982176"/>
            <a:ext cx="40157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dirty="0"/>
              <a:t>• Wykres przedstawia </a:t>
            </a:r>
            <a:r>
              <a:rPr lang="pl-PL" sz="2400" b="1" dirty="0"/>
              <a:t>projekcję t-SNE </a:t>
            </a:r>
            <a:r>
              <a:rPr lang="pl-PL" sz="2400" b="1" dirty="0" err="1"/>
              <a:t>embeddingów</a:t>
            </a:r>
            <a:r>
              <a:rPr lang="pl-PL" sz="2400" b="1" dirty="0"/>
              <a:t> wyuczonych przez model GNN</a:t>
            </a:r>
          </a:p>
          <a:p>
            <a:endParaRPr lang="pl-PL" sz="2400" dirty="0"/>
          </a:p>
          <a:p>
            <a:r>
              <a:rPr lang="pl-PL" sz="2400" dirty="0"/>
              <a:t>• Każdy punkt odpowiada jednej cząsteczce chemicznej</a:t>
            </a:r>
          </a:p>
          <a:p>
            <a:endParaRPr lang="pl-PL" sz="2400" dirty="0"/>
          </a:p>
          <a:p>
            <a:r>
              <a:rPr lang="pl-PL" sz="2400" dirty="0"/>
              <a:t>• </a:t>
            </a:r>
            <a:r>
              <a:rPr lang="pl-PL" sz="2400" dirty="0" err="1"/>
              <a:t>Embeddingi</a:t>
            </a:r>
            <a:r>
              <a:rPr lang="pl-PL" sz="2400" dirty="0"/>
              <a:t> zostały wygenerowane przez </a:t>
            </a:r>
            <a:r>
              <a:rPr lang="pl-PL" sz="2400" dirty="0" err="1"/>
              <a:t>backbone</a:t>
            </a:r>
            <a:r>
              <a:rPr lang="pl-PL" sz="2400" dirty="0"/>
              <a:t> GIN po agregacji grafu</a:t>
            </a:r>
          </a:p>
        </p:txBody>
      </p:sp>
    </p:spTree>
    <p:extLst>
      <p:ext uri="{BB962C8B-B14F-4D97-AF65-F5344CB8AC3E}">
        <p14:creationId xmlns:p14="http://schemas.microsoft.com/office/powerpoint/2010/main" val="4002789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DEF576-5E9B-718A-AB58-DFB605D30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539" y="365125"/>
            <a:ext cx="10515600" cy="1325563"/>
          </a:xfrm>
        </p:spPr>
        <p:txBody>
          <a:bodyPr/>
          <a:lstStyle/>
          <a:p>
            <a:r>
              <a:rPr lang="pl-PL" b="1" dirty="0"/>
              <a:t>Obserwacje z </a:t>
            </a:r>
            <a:r>
              <a:rPr lang="pl-PL" b="1" dirty="0" err="1"/>
              <a:t>Embeddingow</a:t>
            </a:r>
            <a:r>
              <a:rPr lang="pl-PL" b="1" dirty="0"/>
              <a:t> GIN w TSNE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7D544C-EA57-0F87-F2D0-E540EF0F3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1" y="1908313"/>
            <a:ext cx="11608904" cy="4368041"/>
          </a:xfrm>
        </p:spPr>
        <p:txBody>
          <a:bodyPr>
            <a:normAutofit/>
          </a:bodyPr>
          <a:lstStyle/>
          <a:p>
            <a:r>
              <a:rPr lang="pl-PL" dirty="0"/>
              <a:t> </a:t>
            </a:r>
            <a:r>
              <a:rPr lang="pl-PL" b="1" dirty="0" err="1"/>
              <a:t>Embedding</a:t>
            </a:r>
            <a:r>
              <a:rPr lang="pl-PL" b="1" dirty="0"/>
              <a:t> GNN częściowo separuje klasy </a:t>
            </a:r>
            <a:r>
              <a:rPr lang="pl-PL" dirty="0"/>
              <a:t>→ lepszy niż Morgan/</a:t>
            </a:r>
            <a:r>
              <a:rPr lang="pl-PL" dirty="0" err="1"/>
              <a:t>RDKit</a:t>
            </a:r>
            <a:endParaRPr lang="pl-PL" dirty="0"/>
          </a:p>
          <a:p>
            <a:r>
              <a:rPr lang="pl-PL" dirty="0"/>
              <a:t> </a:t>
            </a:r>
            <a:r>
              <a:rPr lang="pl-PL" b="1" dirty="0"/>
              <a:t>Widoczna lokalna struktura </a:t>
            </a:r>
            <a:r>
              <a:rPr lang="pl-PL" dirty="0"/>
              <a:t>→ istnieją regiony wzbogacone w </a:t>
            </a:r>
            <a:r>
              <a:rPr lang="pl-PL" dirty="0" err="1"/>
              <a:t>class</a:t>
            </a:r>
            <a:r>
              <a:rPr lang="pl-PL" dirty="0"/>
              <a:t> 1</a:t>
            </a:r>
          </a:p>
          <a:p>
            <a:r>
              <a:rPr lang="pl-PL" dirty="0"/>
              <a:t> </a:t>
            </a:r>
            <a:r>
              <a:rPr lang="pl-PL" b="1" dirty="0"/>
              <a:t>Model nauczył się pewnych wzorców</a:t>
            </a:r>
            <a:r>
              <a:rPr lang="pl-PL" dirty="0"/>
              <a:t>, ale nie pełnej separacji</a:t>
            </a:r>
          </a:p>
          <a:p>
            <a:r>
              <a:rPr lang="pl-PL" dirty="0"/>
              <a:t> Rozkład nie jest losowy → GNN wydobywa informację </a:t>
            </a:r>
            <a:r>
              <a:rPr lang="pl-PL" dirty="0" err="1"/>
              <a:t>taskową</a:t>
            </a:r>
            <a:endParaRPr lang="pl-PL" dirty="0"/>
          </a:p>
          <a:p>
            <a:r>
              <a:rPr lang="pl-PL" dirty="0"/>
              <a:t> Brak wyraźnych klastrów → ograniczona zdolność rozróżniania</a:t>
            </a:r>
          </a:p>
          <a:p>
            <a:r>
              <a:rPr lang="pl-PL" dirty="0"/>
              <a:t> </a:t>
            </a:r>
            <a:r>
              <a:rPr lang="pl-PL" dirty="0" err="1"/>
              <a:t>Perferyjne</a:t>
            </a:r>
            <a:r>
              <a:rPr lang="pl-PL" dirty="0"/>
              <a:t> klastry → bardziej jednoznaczne przypadki</a:t>
            </a:r>
          </a:p>
          <a:p>
            <a:r>
              <a:rPr lang="pl-PL" dirty="0"/>
              <a:t> </a:t>
            </a:r>
            <a:r>
              <a:rPr lang="pl-PL" b="1" dirty="0" err="1"/>
              <a:t>Embedding</a:t>
            </a:r>
            <a:r>
              <a:rPr lang="pl-PL" b="1" dirty="0"/>
              <a:t> jest bardziej strukturalny niż </a:t>
            </a:r>
            <a:r>
              <a:rPr lang="pl-PL" b="1" dirty="0" err="1"/>
              <a:t>raw</a:t>
            </a:r>
            <a:r>
              <a:rPr lang="pl-PL" b="1" dirty="0"/>
              <a:t> </a:t>
            </a:r>
            <a:r>
              <a:rPr lang="pl-PL" b="1" dirty="0" err="1"/>
              <a:t>features</a:t>
            </a:r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594079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C6417D-9AE4-C9B5-C1FE-114769D1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21885" cy="1325563"/>
          </a:xfrm>
        </p:spPr>
        <p:txBody>
          <a:bodyPr/>
          <a:lstStyle/>
          <a:p>
            <a:r>
              <a:rPr lang="pl-PL" b="1" dirty="0"/>
              <a:t>Dlaczego MTL się sprawdzi dla tych danych?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A52766-E9F3-03C5-CE4A-8FD33A55C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9" y="1690688"/>
            <a:ext cx="11121886" cy="4486275"/>
          </a:xfrm>
        </p:spPr>
        <p:txBody>
          <a:bodyPr>
            <a:normAutofit/>
          </a:bodyPr>
          <a:lstStyle/>
          <a:p>
            <a:r>
              <a:rPr lang="pl-PL" dirty="0"/>
              <a:t> Wspólny </a:t>
            </a:r>
            <a:r>
              <a:rPr lang="pl-PL" dirty="0" err="1"/>
              <a:t>encoder</a:t>
            </a:r>
            <a:r>
              <a:rPr lang="pl-PL" dirty="0"/>
              <a:t> (</a:t>
            </a:r>
            <a:r>
              <a:rPr lang="pl-PL" dirty="0" err="1"/>
              <a:t>backbone</a:t>
            </a:r>
            <a:r>
              <a:rPr lang="pl-PL" dirty="0"/>
              <a:t>) uczy reprezentacji z wielu </a:t>
            </a:r>
            <a:r>
              <a:rPr lang="pl-PL" dirty="0" err="1"/>
              <a:t>tasków</a:t>
            </a:r>
            <a:r>
              <a:rPr lang="pl-PL" dirty="0"/>
              <a:t> </a:t>
            </a:r>
          </a:p>
          <a:p>
            <a:r>
              <a:rPr lang="pl-PL" dirty="0"/>
              <a:t>Transfer wiedzy między </a:t>
            </a:r>
            <a:r>
              <a:rPr lang="pl-PL" dirty="0" err="1"/>
              <a:t>taskami</a:t>
            </a:r>
            <a:r>
              <a:rPr lang="pl-PL" dirty="0"/>
              <a:t> → poprawa dla małych i rzadkich zbiorów</a:t>
            </a:r>
          </a:p>
          <a:p>
            <a:r>
              <a:rPr lang="pl-PL" dirty="0"/>
              <a:t> </a:t>
            </a:r>
            <a:r>
              <a:rPr lang="pl-PL" dirty="0" err="1"/>
              <a:t>Regularizacja</a:t>
            </a:r>
            <a:r>
              <a:rPr lang="pl-PL" dirty="0"/>
              <a:t> przez współdzielenie parametrów → mniejsze </a:t>
            </a:r>
            <a:r>
              <a:rPr lang="pl-PL" dirty="0" err="1"/>
              <a:t>overfitting</a:t>
            </a:r>
            <a:endParaRPr lang="pl-PL" dirty="0"/>
          </a:p>
          <a:p>
            <a:r>
              <a:rPr lang="pl-PL" dirty="0"/>
              <a:t> Lepsza generalizacja przy nierównowadze klas</a:t>
            </a:r>
          </a:p>
          <a:p>
            <a:r>
              <a:rPr lang="pl-PL" dirty="0"/>
              <a:t> GNN </a:t>
            </a:r>
            <a:r>
              <a:rPr lang="pl-PL" dirty="0" err="1"/>
              <a:t>backbone</a:t>
            </a:r>
            <a:r>
              <a:rPr lang="pl-PL" dirty="0"/>
              <a:t> uczy reprezentacji </a:t>
            </a:r>
            <a:r>
              <a:rPr lang="pl-PL" dirty="0" err="1"/>
              <a:t>task-aware</a:t>
            </a:r>
            <a:r>
              <a:rPr lang="pl-PL" dirty="0"/>
              <a:t> → separacja </a:t>
            </a:r>
            <a:r>
              <a:rPr lang="pl-PL" dirty="0" err="1"/>
              <a:t>active</a:t>
            </a:r>
            <a:r>
              <a:rPr lang="pl-PL" dirty="0"/>
              <a:t> vs </a:t>
            </a:r>
            <a:r>
              <a:rPr lang="pl-PL" dirty="0" err="1"/>
              <a:t>inactive</a:t>
            </a:r>
            <a:endParaRPr lang="pl-PL" dirty="0"/>
          </a:p>
          <a:p>
            <a:r>
              <a:rPr lang="pl-PL" dirty="0"/>
              <a:t> Korelacje biologiczne między </a:t>
            </a:r>
            <a:r>
              <a:rPr lang="pl-PL" dirty="0" err="1"/>
              <a:t>taskami</a:t>
            </a:r>
            <a:r>
              <a:rPr lang="pl-PL" dirty="0"/>
              <a:t> są wykorzystywane w uczeniu </a:t>
            </a:r>
          </a:p>
          <a:p>
            <a:r>
              <a:rPr lang="pl-PL" dirty="0"/>
              <a:t> Jedna przestrzeń </a:t>
            </a:r>
            <a:r>
              <a:rPr lang="pl-PL" dirty="0" err="1"/>
              <a:t>embeddingów</a:t>
            </a:r>
            <a:r>
              <a:rPr lang="pl-PL" dirty="0"/>
              <a:t> → spójna reprezentacja molekuł</a:t>
            </a:r>
          </a:p>
        </p:txBody>
      </p:sp>
    </p:spTree>
    <p:extLst>
      <p:ext uri="{BB962C8B-B14F-4D97-AF65-F5344CB8AC3E}">
        <p14:creationId xmlns:p14="http://schemas.microsoft.com/office/powerpoint/2010/main" val="3757377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698F80-7982-26BC-F132-A1F40B79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31" y="91856"/>
            <a:ext cx="10515600" cy="1325563"/>
          </a:xfrm>
        </p:spPr>
        <p:txBody>
          <a:bodyPr/>
          <a:lstStyle/>
          <a:p>
            <a:r>
              <a:rPr lang="pl-PL" b="1" dirty="0"/>
              <a:t>Klaster 1: Metabolizm (CYP)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1D5404-8396-F212-A4C2-8C37A1D49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31" y="1313794"/>
            <a:ext cx="11161986" cy="54523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dirty="0"/>
              <a:t>To </a:t>
            </a:r>
            <a:r>
              <a:rPr lang="pl-PL" b="1" dirty="0"/>
              <a:t>enzymy</a:t>
            </a:r>
            <a:r>
              <a:rPr lang="pl-PL" dirty="0"/>
              <a:t> z rodziny cytochromu P450 odpowiedzialne za metabolizm leków w wątrobie.</a:t>
            </a:r>
          </a:p>
          <a:p>
            <a:r>
              <a:rPr lang="pl-PL" dirty="0"/>
              <a:t>decydują jak szybko lek jest rozkładany </a:t>
            </a:r>
          </a:p>
          <a:p>
            <a:r>
              <a:rPr lang="pl-PL" dirty="0"/>
              <a:t>mają podobne mechanizmy działania 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b="1" dirty="0"/>
              <a:t>ENDPOINTS :</a:t>
            </a:r>
          </a:p>
          <a:p>
            <a:r>
              <a:rPr lang="pl-PL" dirty="0"/>
              <a:t>cyp2c19</a:t>
            </a:r>
          </a:p>
          <a:p>
            <a:r>
              <a:rPr lang="pl-PL" dirty="0"/>
              <a:t>cyp2d6</a:t>
            </a:r>
          </a:p>
          <a:p>
            <a:r>
              <a:rPr lang="pl-PL" dirty="0"/>
              <a:t>cyp3a4</a:t>
            </a:r>
          </a:p>
          <a:p>
            <a:r>
              <a:rPr lang="pl-PL" dirty="0"/>
              <a:t>cyp1a2</a:t>
            </a:r>
          </a:p>
          <a:p>
            <a:r>
              <a:rPr lang="pl-PL" dirty="0"/>
              <a:t>cyp2c9</a:t>
            </a:r>
          </a:p>
        </p:txBody>
      </p:sp>
    </p:spTree>
    <p:extLst>
      <p:ext uri="{BB962C8B-B14F-4D97-AF65-F5344CB8AC3E}">
        <p14:creationId xmlns:p14="http://schemas.microsoft.com/office/powerpoint/2010/main" val="3563900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87C62A-D419-FC94-60AA-2616986A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Klaster 1: Metabolizm (CYP)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F68387-E412-1D1C-82B3-C7F11A335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wysoka korelacja między </a:t>
            </a:r>
            <a:r>
              <a:rPr lang="pl-PL" dirty="0" err="1"/>
              <a:t>taskami</a:t>
            </a:r>
            <a:endParaRPr lang="pl-PL" dirty="0"/>
          </a:p>
          <a:p>
            <a:r>
              <a:rPr lang="pl-PL" dirty="0"/>
              <a:t>podobne cechy strukturalne ligandów</a:t>
            </a:r>
          </a:p>
          <a:p>
            <a:r>
              <a:rPr lang="pl-PL" dirty="0"/>
              <a:t>wspólna przestrzeń </a:t>
            </a:r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space</a:t>
            </a: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Dlatego ten klaster jest idealny dla </a:t>
            </a:r>
            <a:r>
              <a:rPr lang="pl-PL" dirty="0" err="1"/>
              <a:t>multi-task</a:t>
            </a:r>
            <a:r>
              <a:rPr lang="pl-PL" dirty="0"/>
              <a:t> learning bo model może uczyć się wspólnych wzorców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57635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1FAC3E-BB6E-83C4-0E82-FE252C7D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Klaster 2: Transport i bariery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9C6AAD-F21E-73B0-1120-AE05237E6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Te </a:t>
            </a:r>
            <a:r>
              <a:rPr lang="pl-PL" b="1" dirty="0" err="1"/>
              <a:t>taski</a:t>
            </a:r>
            <a:r>
              <a:rPr lang="pl-PL" dirty="0"/>
              <a:t> opisują zdolność cząsteczki do przemieszczania się w organizmie.</a:t>
            </a:r>
            <a:endParaRPr lang="pl-PL" b="1" dirty="0"/>
          </a:p>
          <a:p>
            <a:pPr marL="0" indent="0">
              <a:buNone/>
            </a:pPr>
            <a:endParaRPr lang="pl-PL" b="1" dirty="0"/>
          </a:p>
          <a:p>
            <a:pPr marL="0" indent="0">
              <a:buNone/>
            </a:pPr>
            <a:r>
              <a:rPr lang="pl-PL" b="1" dirty="0"/>
              <a:t>ENDPOINTS</a:t>
            </a:r>
          </a:p>
          <a:p>
            <a:r>
              <a:rPr lang="pl-PL" b="1" dirty="0"/>
              <a:t>HIA</a:t>
            </a:r>
            <a:r>
              <a:rPr lang="pl-PL" dirty="0"/>
              <a:t> — wchłanianie jelitowe, czyli czy lek się wchłonie</a:t>
            </a:r>
          </a:p>
          <a:p>
            <a:r>
              <a:rPr lang="pl-PL" b="1" dirty="0"/>
              <a:t>P-</a:t>
            </a:r>
            <a:r>
              <a:rPr lang="pl-PL" b="1" dirty="0" err="1"/>
              <a:t>gp</a:t>
            </a:r>
            <a:r>
              <a:rPr lang="pl-PL" dirty="0"/>
              <a:t> — transporter (</a:t>
            </a:r>
            <a:r>
              <a:rPr lang="pl-PL" dirty="0" err="1"/>
              <a:t>efflux</a:t>
            </a:r>
            <a:r>
              <a:rPr lang="pl-PL" dirty="0"/>
              <a:t>), czyli czy zostanie wypompowany z komórki</a:t>
            </a:r>
          </a:p>
          <a:p>
            <a:r>
              <a:rPr lang="pl-PL" b="1" dirty="0"/>
              <a:t>BBB</a:t>
            </a:r>
            <a:r>
              <a:rPr lang="pl-PL" dirty="0"/>
              <a:t> — bariera krew–mózg, czyli czy dotrze do mózgu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97995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B4B9FA-3865-A33F-C7D5-0D42559C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Klaster 3: Toksyczność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CBA598-459D-EB16-38EF-ABBE9777D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 err="1"/>
              <a:t>hERG</a:t>
            </a:r>
            <a:r>
              <a:rPr lang="pl-PL" b="1" dirty="0"/>
              <a:t> — </a:t>
            </a:r>
            <a:r>
              <a:rPr lang="pl-PL" b="1" dirty="0" err="1"/>
              <a:t>kardiotoksyczność</a:t>
            </a:r>
            <a:r>
              <a:rPr lang="pl-PL" b="1" dirty="0"/>
              <a:t> </a:t>
            </a:r>
            <a:r>
              <a:rPr lang="pl-PL" dirty="0"/>
              <a:t>, czyli ryzyko arytmii</a:t>
            </a:r>
          </a:p>
          <a:p>
            <a:r>
              <a:rPr lang="pl-PL" b="1" dirty="0"/>
              <a:t>DILI — </a:t>
            </a:r>
            <a:r>
              <a:rPr lang="pl-PL" b="1" dirty="0" err="1"/>
              <a:t>hepatotoksyczność</a:t>
            </a:r>
            <a:r>
              <a:rPr lang="pl-PL" dirty="0"/>
              <a:t>, czyli uszkodzenie wątroby 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 err="1"/>
              <a:t>Wystepuja</a:t>
            </a:r>
            <a:r>
              <a:rPr lang="pl-PL" dirty="0"/>
              <a:t> </a:t>
            </a:r>
            <a:r>
              <a:rPr lang="pl-PL" b="1" dirty="0"/>
              <a:t>zależności</a:t>
            </a:r>
            <a:r>
              <a:rPr lang="pl-PL" dirty="0"/>
              <a:t> z innymi </a:t>
            </a:r>
            <a:r>
              <a:rPr lang="pl-PL" dirty="0" err="1"/>
              <a:t>taskami</a:t>
            </a:r>
            <a:r>
              <a:rPr lang="pl-PL" dirty="0"/>
              <a:t>: </a:t>
            </a:r>
          </a:p>
          <a:p>
            <a:r>
              <a:rPr lang="pl-PL" dirty="0" err="1"/>
              <a:t>Toksycznosc</a:t>
            </a:r>
            <a:r>
              <a:rPr lang="pl-PL" dirty="0"/>
              <a:t> silnie zależna od metabolizmu</a:t>
            </a:r>
          </a:p>
          <a:p>
            <a:r>
              <a:rPr lang="pl-PL" dirty="0" err="1"/>
              <a:t>Toksycznosc</a:t>
            </a:r>
            <a:r>
              <a:rPr lang="pl-PL" dirty="0"/>
              <a:t> powiązana z akumulacją leku</a:t>
            </a:r>
          </a:p>
        </p:txBody>
      </p:sp>
    </p:spTree>
    <p:extLst>
      <p:ext uri="{BB962C8B-B14F-4D97-AF65-F5344CB8AC3E}">
        <p14:creationId xmlns:p14="http://schemas.microsoft.com/office/powerpoint/2010/main" val="1319307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A51CFE-D424-A0E0-58D5-30759D1A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Czym jest korelacja między zadaniami?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F0C378EE-CCFD-6040-EC12-4311A22986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l-PL" b="1" dirty="0"/>
                  <a:t>Korelacja mierzy podobieństwo </a:t>
                </a:r>
                <a:r>
                  <a:rPr lang="pl-PL" b="1" dirty="0" err="1"/>
                  <a:t>endpointów</a:t>
                </a:r>
                <a:r>
                  <a:rPr lang="pl-PL" b="1" dirty="0"/>
                  <a:t> </a:t>
                </a:r>
              </a:p>
              <a:p>
                <a:pPr marL="0" indent="0">
                  <a:buNone/>
                </a:pPr>
                <a:endParaRPr lang="pl-PL" b="1" dirty="0"/>
              </a:p>
              <a:p>
                <a:pPr marL="0" indent="0">
                  <a:buNone/>
                </a:pPr>
                <a:r>
                  <a:rPr lang="pl-PL" dirty="0"/>
                  <a:t>Zakres: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/>
                        <m:t>𝝆</m:t>
                      </m:r>
                      <m:r>
                        <a:rPr lang="pl-PL" b="1"/>
                        <m:t>∈</m:t>
                      </m:r>
                      <m:r>
                        <a:rPr lang="pl-PL" b="1" i="0" smtClean="0"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pl-PL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0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pl-PL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0" smtClean="0"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ar-AE" b="1" dirty="0"/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:r>
                  <a:rPr lang="pl-PL" dirty="0"/>
                  <a:t>Interpretacja: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l-PL" i="1"/>
                      <m:t>𝜌</m:t>
                    </m:r>
                    <m:r>
                      <a:rPr lang="pl-PL"/>
                      <m:t>&gt;</m:t>
                    </m:r>
                    <m:r>
                      <a:rPr lang="pl-PL"/>
                      <m:t>0</m:t>
                    </m:r>
                  </m:oMath>
                </a14:m>
                <a:r>
                  <a:rPr lang="pl-PL" dirty="0"/>
                  <a:t>→ podobne mechanizmy biologiczne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l-PL" i="1"/>
                      <m:t>𝜌</m:t>
                    </m:r>
                    <m:r>
                      <a:rPr lang="pl-PL"/>
                      <m:t>≈</m:t>
                    </m:r>
                    <m:r>
                      <a:rPr lang="pl-PL"/>
                      <m:t>0</m:t>
                    </m:r>
                  </m:oMath>
                </a14:m>
                <a:r>
                  <a:rPr lang="pl-PL" dirty="0"/>
                  <a:t>→ brak związku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l-PL" i="1"/>
                      <m:t>𝜌</m:t>
                    </m:r>
                    <m:r>
                      <a:rPr lang="pl-PL"/>
                      <m:t>&lt;</m:t>
                    </m:r>
                    <m:r>
                      <a:rPr lang="pl-PL"/>
                      <m:t>0</m:t>
                    </m:r>
                  </m:oMath>
                </a14:m>
                <a:r>
                  <a:rPr lang="pl-PL" dirty="0"/>
                  <a:t>→ przeciwne zależności </a:t>
                </a:r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F0C378EE-CCFD-6040-EC12-4311A22986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426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772968-0B7C-99ED-E1FD-38D54013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Korelacja - co dokładnie robimy?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22A93C5-03E8-C7CB-7BC2-E261EFD79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3200" dirty="0"/>
                  <a:t>0. wejście: macierz etykiet </a:t>
                </a:r>
                <a14:m>
                  <m:oMath xmlns:m="http://schemas.openxmlformats.org/officeDocument/2006/math">
                    <m:r>
                      <a:rPr lang="pl-PL" sz="3200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pl-PL" sz="3200" b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3200" b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3200" b="1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ar-AE" sz="3200" b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32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pl-PL" sz="3200" b="1" dirty="0"/>
              </a:p>
              <a:p>
                <a:pPr marL="0" indent="0">
                  <a:buNone/>
                </a:pPr>
                <a:r>
                  <a:rPr lang="pl-PL" sz="3200" dirty="0"/>
                  <a:t>1. łączysz </a:t>
                </a:r>
                <a:r>
                  <a:rPr lang="pl-PL" sz="3200" dirty="0" err="1"/>
                  <a:t>datasety</a:t>
                </a:r>
                <a:r>
                  <a:rPr lang="pl-PL" sz="3200" dirty="0"/>
                  <a:t> po SMILES</a:t>
                </a:r>
              </a:p>
              <a:p>
                <a:pPr marL="0" indent="0">
                  <a:buNone/>
                </a:pPr>
                <a:r>
                  <a:rPr lang="pl-PL" sz="3200" dirty="0"/>
                  <a:t>2. robisz </a:t>
                </a:r>
                <a:r>
                  <a:rPr lang="pl-PL" sz="3200" b="1" dirty="0" err="1"/>
                  <a:t>outer</a:t>
                </a:r>
                <a:r>
                  <a:rPr lang="pl-PL" sz="3200" b="1" dirty="0"/>
                  <a:t> </a:t>
                </a:r>
                <a:r>
                  <a:rPr lang="pl-PL" sz="3200" b="1" dirty="0" err="1"/>
                  <a:t>join</a:t>
                </a:r>
                <a:r>
                  <a:rPr lang="pl-PL" sz="3200" b="1" dirty="0"/>
                  <a:t> </a:t>
                </a:r>
                <a:r>
                  <a:rPr lang="pl-PL" sz="3200" dirty="0"/>
                  <a:t>wynikiem jest dużo </a:t>
                </a:r>
                <a:r>
                  <a:rPr lang="pl-PL" sz="3200" dirty="0" err="1"/>
                  <a:t>NaN</a:t>
                </a:r>
                <a:endParaRPr lang="pl-PL" sz="3200" dirty="0"/>
              </a:p>
              <a:p>
                <a:pPr marL="0" indent="0">
                  <a:buNone/>
                </a:pPr>
                <a:r>
                  <a:rPr lang="pl-PL" sz="3200" dirty="0"/>
                  <a:t>3. liczysz korelację tylko na dostępnych parach (</a:t>
                </a:r>
                <a:r>
                  <a:rPr lang="pl-PL" sz="3200" b="1" dirty="0"/>
                  <a:t>Pearson</a:t>
                </a:r>
                <a:r>
                  <a:rPr lang="pl-PL" sz="3200" dirty="0"/>
                  <a:t> )</a:t>
                </a:r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22A93C5-03E8-C7CB-7BC2-E261EFD79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252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166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1544CB-934B-076F-66F6-B17679064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Co oznacza korelacja w tym projekcie?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B85785-70A5-2DED-8FF0-967E61C7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wysoka korelacja </a:t>
            </a:r>
            <a:r>
              <a:rPr lang="pl-PL" dirty="0"/>
              <a:t>→ podobne zachowanie biologiczne </a:t>
            </a:r>
          </a:p>
          <a:p>
            <a:r>
              <a:rPr lang="pl-PL" b="1" dirty="0"/>
              <a:t>niska korelacja </a:t>
            </a:r>
            <a:r>
              <a:rPr lang="pl-PL" dirty="0"/>
              <a:t>→ brak związku </a:t>
            </a:r>
          </a:p>
          <a:p>
            <a:r>
              <a:rPr lang="pl-PL" b="1" dirty="0"/>
              <a:t>ujemna</a:t>
            </a:r>
            <a:r>
              <a:rPr lang="pl-PL" dirty="0"/>
              <a:t> → przeciwne efekty </a:t>
            </a:r>
          </a:p>
          <a:p>
            <a:endParaRPr lang="pl-PL" dirty="0"/>
          </a:p>
          <a:p>
            <a:endParaRPr lang="pl-PL" dirty="0"/>
          </a:p>
          <a:p>
            <a:pPr marL="0" indent="0">
              <a:buNone/>
            </a:pPr>
            <a:r>
              <a:rPr lang="pl-PL" dirty="0"/>
              <a:t>Dla nas : </a:t>
            </a:r>
            <a:r>
              <a:rPr lang="pl-PL" b="1" dirty="0"/>
              <a:t>Jeśli dwa </a:t>
            </a:r>
            <a:r>
              <a:rPr lang="pl-PL" b="1" dirty="0" err="1"/>
              <a:t>taski</a:t>
            </a:r>
            <a:r>
              <a:rPr lang="pl-PL" b="1" dirty="0"/>
              <a:t> są skorelowane, model może wykorzystać wspólną reprezentację i lepiej się nauczyć </a:t>
            </a:r>
            <a:r>
              <a:rPr lang="pl-PL" b="1" dirty="0" err="1"/>
              <a:t>wzorcow</a:t>
            </a:r>
            <a:endParaRPr lang="pl-PL" b="1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33070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08153229-0F30-1FE1-3170-BB869C1C7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1539" y="0"/>
            <a:ext cx="8107181" cy="6485746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0E715883-0F80-A571-5F9A-AF894B531EDD}"/>
              </a:ext>
            </a:extLst>
          </p:cNvPr>
          <p:cNvSpPr txBox="1"/>
          <p:nvPr/>
        </p:nvSpPr>
        <p:spPr>
          <a:xfrm>
            <a:off x="8386141" y="2458043"/>
            <a:ext cx="33718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l-PL" sz="2400" b="1" dirty="0"/>
              <a:t>Macierz korelacji pokazuje zależności między zadaniami predykcyjnymi.</a:t>
            </a:r>
          </a:p>
        </p:txBody>
      </p:sp>
    </p:spTree>
    <p:extLst>
      <p:ext uri="{BB962C8B-B14F-4D97-AF65-F5344CB8AC3E}">
        <p14:creationId xmlns:p14="http://schemas.microsoft.com/office/powerpoint/2010/main" val="81745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B29B25-3585-390F-B3B4-9A433495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Najważniejsze zależności </a:t>
            </a:r>
            <a:r>
              <a:rPr lang="pl-PL" b="1" dirty="0"/>
              <a:t>- CYP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68FDA64-5F17-5026-04F5-730C68C30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l-PL" b="1" dirty="0"/>
                  <a:t>metabolizm (CYP)</a:t>
                </a:r>
              </a:p>
              <a:p>
                <a:r>
                  <a:rPr lang="el-GR" dirty="0"/>
                  <a:t>ρ(</a:t>
                </a:r>
                <a:r>
                  <a:rPr lang="pl-PL" dirty="0"/>
                  <a:t>cyp2c19,cyp2c9)=0.71 </a:t>
                </a:r>
              </a:p>
              <a:p>
                <a14:m>
                  <m:oMath xmlns:m="http://schemas.openxmlformats.org/officeDocument/2006/math">
                    <m:r>
                      <a:rPr lang="pl-PL" i="1"/>
                      <m:t>𝜌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𝑐</m:t>
                        </m:r>
                      </m:e>
                      <m:e>
                        <m:r>
                          <a:rPr lang="ar-AE" i="1"/>
                          <m:t>𝑦𝑝</m:t>
                        </m:r>
                        <m:r>
                          <a:rPr lang="ar-AE"/>
                          <m:t>2</m:t>
                        </m:r>
                        <m:r>
                          <a:rPr lang="ar-AE" i="1"/>
                          <m:t>𝑐</m:t>
                        </m:r>
                        <m:r>
                          <a:rPr lang="ar-AE"/>
                          <m:t>19</m:t>
                        </m:r>
                        <m:r>
                          <a:rPr lang="ar-AE" i="1"/>
                          <m:t>𝑐𝑦𝑝</m:t>
                        </m:r>
                        <m:r>
                          <a:rPr lang="ar-AE"/>
                          <m:t>3</m:t>
                        </m:r>
                        <m:r>
                          <a:rPr lang="ar-AE" i="1"/>
                          <m:t>𝑎</m:t>
                        </m:r>
                        <m:r>
                          <a:rPr lang="ar-AE"/>
                          <m:t>4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  <m:r>
                      <a:rPr lang="ar-AE"/>
                      <m:t>.</m:t>
                    </m:r>
                    <m:r>
                      <a:rPr lang="ar-AE"/>
                      <m:t>50</m:t>
                    </m:r>
                  </m:oMath>
                </a14:m>
                <a:endParaRPr lang="pl-PL" dirty="0"/>
              </a:p>
              <a:p>
                <a:endParaRPr lang="ar-AE" dirty="0"/>
              </a:p>
              <a:p>
                <a:pPr marL="0" indent="0">
                  <a:buNone/>
                </a:pPr>
                <a:r>
                  <a:rPr lang="pl-PL" dirty="0"/>
                  <a:t>To pokazuje, że enzymy metabolizujące są silnie powiązane.</a:t>
                </a:r>
              </a:p>
              <a:p>
                <a:pPr marL="0" indent="0">
                  <a:buNone/>
                </a:pPr>
                <a:endParaRPr lang="pl-PL" b="1" dirty="0"/>
              </a:p>
              <a:p>
                <a:endParaRPr lang="pl-PL" dirty="0"/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68FDA64-5F17-5026-04F5-730C68C30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5639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8405A8-ABF6-D53E-05D9-BB9BB087A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dirty="0"/>
              <a:t>Najważniejsze zależności - </a:t>
            </a:r>
            <a:r>
              <a:rPr lang="pl-PL" sz="3600" b="1" dirty="0"/>
              <a:t>Transport i metabolizm</a:t>
            </a:r>
            <a:endParaRPr lang="pl-PL" sz="3600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18AF7EA-050C-3E46-3162-66C395E5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ρ(</a:t>
            </a:r>
            <a:r>
              <a:rPr lang="pl-PL" dirty="0"/>
              <a:t>pgp,cyp2c19)=0.42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b="1" dirty="0"/>
              <a:t>Transport i metabolizm są powiązane  </a:t>
            </a:r>
            <a:r>
              <a:rPr lang="pl-PL" dirty="0"/>
              <a:t>to naturalne biologicznie</a:t>
            </a:r>
          </a:p>
        </p:txBody>
      </p:sp>
    </p:spTree>
    <p:extLst>
      <p:ext uri="{BB962C8B-B14F-4D97-AF65-F5344CB8AC3E}">
        <p14:creationId xmlns:p14="http://schemas.microsoft.com/office/powerpoint/2010/main" val="1347069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9EB681-A3BF-B047-23B5-70346A06A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Najważniejsze zależności - </a:t>
            </a:r>
            <a:r>
              <a:rPr lang="pl-PL" b="1" dirty="0"/>
              <a:t>Toksyczność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940C5C3-7511-916B-D3AF-35AA4C9261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l-GR" dirty="0"/>
                  <a:t>ρ(</a:t>
                </a:r>
                <a:r>
                  <a:rPr lang="pl-PL" dirty="0"/>
                  <a:t>cyp2d6,herg)=0.53 </a:t>
                </a:r>
              </a:p>
              <a:p>
                <a14:m>
                  <m:oMath xmlns:m="http://schemas.openxmlformats.org/officeDocument/2006/math">
                    <m:r>
                      <a:rPr lang="pl-PL" i="1"/>
                      <m:t>𝜌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𝑐</m:t>
                        </m:r>
                      </m:e>
                      <m:e>
                        <m:r>
                          <a:rPr lang="ar-AE" i="1"/>
                          <m:t>𝑦𝑝</m:t>
                        </m:r>
                        <m:r>
                          <a:rPr lang="ar-AE"/>
                          <m:t>1</m:t>
                        </m:r>
                        <m:r>
                          <a:rPr lang="ar-AE" i="1"/>
                          <m:t>𝑎</m:t>
                        </m:r>
                        <m:r>
                          <a:rPr lang="ar-AE"/>
                          <m:t>2</m:t>
                        </m:r>
                        <m:r>
                          <a:rPr lang="ar-AE" i="1"/>
                          <m:t>𝑑𝑖𝑙𝑖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  <m:r>
                      <a:rPr lang="ar-AE"/>
                      <m:t>.</m:t>
                    </m:r>
                    <m:r>
                      <a:rPr lang="ar-AE"/>
                      <m:t>50</m:t>
                    </m:r>
                  </m:oMath>
                </a14:m>
                <a:endParaRPr lang="ar-AE" dirty="0"/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:r>
                  <a:rPr lang="pl-PL" b="1" dirty="0"/>
                  <a:t>Toksyczność zależy od metabolizmu</a:t>
                </a:r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940C5C3-7511-916B-D3AF-35AA4C9261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484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E7C671-1429-1C33-86D0-649CED673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Słabe zależności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AAA827-5410-D866-642E-DD195120A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ρ(</a:t>
            </a:r>
            <a:r>
              <a:rPr lang="pl-PL" dirty="0" err="1"/>
              <a:t>hia,CYP</a:t>
            </a:r>
            <a:r>
              <a:rPr lang="pl-PL" dirty="0"/>
              <a:t>) ≈ 0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/>
              <a:t>Nie wszystkie </a:t>
            </a:r>
            <a:r>
              <a:rPr lang="pl-PL" dirty="0" err="1"/>
              <a:t>taski</a:t>
            </a:r>
            <a:r>
              <a:rPr lang="pl-PL" dirty="0"/>
              <a:t> są powiązane to ogranicza </a:t>
            </a:r>
            <a:r>
              <a:rPr lang="pl-PL" dirty="0" err="1"/>
              <a:t>zdolnosci</a:t>
            </a:r>
            <a:r>
              <a:rPr lang="pl-PL" dirty="0"/>
              <a:t> MTL.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43435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3A9B0-6C5E-D844-7941-302BE35C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Najważniejsza ujemna korelacja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7C1490-C27D-C974-5A98-9D8AA0D6E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ρ(</a:t>
            </a:r>
            <a:r>
              <a:rPr lang="pl-PL" dirty="0" err="1"/>
              <a:t>pgp,dili</a:t>
            </a:r>
            <a:r>
              <a:rPr lang="pl-PL" dirty="0"/>
              <a:t>) = −0.50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P-</a:t>
            </a:r>
            <a:r>
              <a:rPr lang="pl-PL" dirty="0" err="1"/>
              <a:t>gp</a:t>
            </a:r>
            <a:r>
              <a:rPr lang="pl-PL" dirty="0"/>
              <a:t> usuwa cząsteczki </a:t>
            </a:r>
            <a:r>
              <a:rPr lang="pl-PL" b="1" dirty="0"/>
              <a:t>CZYLI</a:t>
            </a:r>
            <a:r>
              <a:rPr lang="pl-PL" dirty="0"/>
              <a:t> zmniejsza toksyczność  </a:t>
            </a:r>
          </a:p>
          <a:p>
            <a:pPr marL="0" indent="0">
              <a:buNone/>
            </a:pPr>
            <a:r>
              <a:rPr lang="pl-PL" b="1" dirty="0"/>
              <a:t>DLATEGO</a:t>
            </a:r>
            <a:r>
              <a:rPr lang="pl-PL" dirty="0"/>
              <a:t> korelacja jest ujemna.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37487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A4E924-6E41-7B52-29D0-D6395315B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Co Korelacja oznacza dla modelu MTL ?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C3298BE-F6CE-762F-795A-1E566F057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wysoka korelacja → MTL pomaga</a:t>
            </a:r>
          </a:p>
          <a:p>
            <a:r>
              <a:rPr lang="pl-PL" sz="3200" b="1" dirty="0"/>
              <a:t>brak korelacji → brak efektu</a:t>
            </a:r>
          </a:p>
          <a:p>
            <a:r>
              <a:rPr lang="pl-PL" sz="3200" b="1" dirty="0"/>
              <a:t>ujemna → możliwy konflikt</a:t>
            </a:r>
          </a:p>
        </p:txBody>
      </p:sp>
    </p:spTree>
    <p:extLst>
      <p:ext uri="{BB962C8B-B14F-4D97-AF65-F5344CB8AC3E}">
        <p14:creationId xmlns:p14="http://schemas.microsoft.com/office/powerpoint/2010/main" val="982351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0468F7-A46C-A18A-BB0C-F76DF3C5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Problem ujemnej korelacji w MTL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363F6BFD-92D5-96DA-95A3-D9BBB0A33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9918"/>
                <a:ext cx="10515600" cy="517109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l-GR" sz="3200" b="1" dirty="0"/>
                  <a:t>ρ</a:t>
                </a:r>
                <a:r>
                  <a:rPr lang="pl-PL" sz="3200" b="1" dirty="0" err="1"/>
                  <a:t>ij</a:t>
                </a:r>
                <a:r>
                  <a:rPr lang="pl-PL" sz="3200" b="1" dirty="0"/>
                  <a:t>​&lt;0</a:t>
                </a:r>
              </a:p>
              <a:p>
                <a:pPr marL="0" indent="0">
                  <a:buNone/>
                </a:pPr>
                <a:endParaRPr lang="pl-PL" sz="3200" b="1" dirty="0"/>
              </a:p>
              <a:p>
                <a:pPr marL="0" indent="0">
                  <a:buNone/>
                </a:pPr>
                <a:r>
                  <a:rPr lang="pl-PL" dirty="0"/>
                  <a:t>Oznacza, że wzrost jednej właściwości to spadek drugiej</a:t>
                </a:r>
              </a:p>
              <a:p>
                <a:pPr marL="0" indent="0">
                  <a:buNone/>
                </a:pPr>
                <a:r>
                  <a:rPr lang="pl-PL" dirty="0"/>
                  <a:t>Niektóre </a:t>
                </a:r>
                <a:r>
                  <a:rPr lang="pl-PL" dirty="0" err="1"/>
                  <a:t>endpointy</a:t>
                </a:r>
                <a:r>
                  <a:rPr lang="pl-PL" dirty="0"/>
                  <a:t> ADMET są biologicznie przeciwstawne.</a:t>
                </a:r>
              </a:p>
              <a:p>
                <a:pPr marL="0" indent="0">
                  <a:buNone/>
                </a:pPr>
                <a:endParaRPr lang="pl-PL" dirty="0"/>
              </a:p>
              <a:p>
                <a:r>
                  <a:rPr lang="pl-PL" dirty="0"/>
                  <a:t>Model optymalizuje: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/>
                        <m:t>𝓛</m:t>
                      </m:r>
                      <m:r>
                        <a:rPr lang="pl-PL" b="1"/>
                        <m:t>=</m:t>
                      </m:r>
                      <m:sSub>
                        <m:sSubPr>
                          <m:ctrlPr>
                            <a:rPr lang="ar-AE" b="1" i="1"/>
                          </m:ctrlPr>
                        </m:sSubPr>
                        <m:e>
                          <m:r>
                            <a:rPr lang="ar-AE" b="1" i="1"/>
                            <m:t>𝓛</m:t>
                          </m:r>
                        </m:e>
                        <m:sub>
                          <m:r>
                            <a:rPr lang="ar-AE" b="1" i="1"/>
                            <m:t>𝒊</m:t>
                          </m:r>
                        </m:sub>
                      </m:sSub>
                      <m:r>
                        <a:rPr lang="ar-AE" b="1"/>
                        <m:t>+</m:t>
                      </m:r>
                      <m:sSub>
                        <m:sSubPr>
                          <m:ctrlPr>
                            <a:rPr lang="ar-AE" b="1" i="1"/>
                          </m:ctrlPr>
                        </m:sSubPr>
                        <m:e>
                          <m:r>
                            <a:rPr lang="ar-AE" b="1" i="1"/>
                            <m:t>𝓛</m:t>
                          </m:r>
                        </m:e>
                        <m:sub>
                          <m:r>
                            <a:rPr lang="ar-AE" b="1" i="1"/>
                            <m:t>𝒋</m:t>
                          </m:r>
                        </m:sub>
                      </m:sSub>
                    </m:oMath>
                  </m:oMathPara>
                </a14:m>
                <a:endParaRPr lang="ar-AE" b="1" dirty="0"/>
              </a:p>
              <a:p>
                <a:r>
                  <a:rPr lang="pl-PL" dirty="0"/>
                  <a:t>gradient: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/>
                        <m:t>𝛁</m:t>
                      </m:r>
                      <m:r>
                        <a:rPr lang="pl-PL" b="1" i="1"/>
                        <m:t>𝓛</m:t>
                      </m:r>
                      <m:r>
                        <a:rPr lang="pl-PL" b="1"/>
                        <m:t>=</m:t>
                      </m:r>
                      <m:r>
                        <a:rPr lang="pl-PL" b="1" i="1"/>
                        <m:t>𝛁</m:t>
                      </m:r>
                      <m:sSub>
                        <m:sSubPr>
                          <m:ctrlPr>
                            <a:rPr lang="ar-AE" b="1" i="1"/>
                          </m:ctrlPr>
                        </m:sSubPr>
                        <m:e>
                          <m:r>
                            <a:rPr lang="ar-AE" b="1" i="1"/>
                            <m:t>𝓛</m:t>
                          </m:r>
                        </m:e>
                        <m:sub>
                          <m:r>
                            <a:rPr lang="ar-AE" b="1" i="1"/>
                            <m:t>𝒊</m:t>
                          </m:r>
                        </m:sub>
                      </m:sSub>
                      <m:r>
                        <a:rPr lang="ar-AE" b="1"/>
                        <m:t>+</m:t>
                      </m:r>
                      <m:r>
                        <a:rPr lang="ar-AE" b="1" i="1"/>
                        <m:t>𝛁</m:t>
                      </m:r>
                      <m:sSub>
                        <m:sSubPr>
                          <m:ctrlPr>
                            <a:rPr lang="ar-AE" b="1" i="1"/>
                          </m:ctrlPr>
                        </m:sSubPr>
                        <m:e>
                          <m:r>
                            <a:rPr lang="ar-AE" b="1" i="1"/>
                            <m:t>𝓛</m:t>
                          </m:r>
                        </m:e>
                        <m:sub>
                          <m:r>
                            <a:rPr lang="ar-AE" b="1" i="1"/>
                            <m:t>𝒋</m:t>
                          </m:r>
                        </m:sub>
                      </m:sSub>
                    </m:oMath>
                  </m:oMathPara>
                </a14:m>
                <a:endParaRPr lang="pl-PL" b="1" dirty="0"/>
              </a:p>
              <a:p>
                <a:pPr marL="0" indent="0">
                  <a:buNone/>
                </a:pPr>
                <a:endParaRPr lang="ar-AE" b="1" dirty="0"/>
              </a:p>
              <a:p>
                <a:pPr marL="0" indent="0">
                  <a:buNone/>
                </a:pPr>
                <a:r>
                  <a:rPr lang="pl-PL" dirty="0"/>
                  <a:t>Jeśli zadania są sprzeczne, ich gradienty wskazują różne kierunki.</a:t>
                </a:r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363F6BFD-92D5-96DA-95A3-D9BBB0A33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9918"/>
                <a:ext cx="10515600" cy="5171090"/>
              </a:xfrm>
              <a:blipFill>
                <a:blip r:embed="rId2"/>
                <a:stretch>
                  <a:fillRect l="-1391" t="-342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2060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1B3428-E435-CA5F-7FBC-E5006EF2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Możliwe rozwiązania ujemnej korelacji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721F16AD-B3BD-648D-96ED-56A81FF247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5420" y="1690688"/>
                <a:ext cx="10418379" cy="44862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l-PL" b="1" dirty="0"/>
                  <a:t>1. Gradient </a:t>
                </a:r>
                <a:r>
                  <a:rPr lang="pl-PL" b="1" dirty="0" err="1"/>
                  <a:t>surgery</a:t>
                </a:r>
                <a:r>
                  <a:rPr lang="pl-PL" b="1" dirty="0"/>
                  <a:t> (</a:t>
                </a:r>
                <a:r>
                  <a:rPr lang="pl-PL" b="1" dirty="0" err="1"/>
                  <a:t>PCGrad</a:t>
                </a:r>
                <a:r>
                  <a:rPr lang="pl-PL" b="1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𝑔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/>
                      <m:t>:=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𝑔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/>
                      <m:t>−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𝑔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</m:sSub>
                        <m:r>
                          <a:rPr lang="ar-AE"/>
                          <m:t>⋅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𝑔</m:t>
                            </m:r>
                          </m:e>
                          <m:sub>
                            <m:r>
                              <a:rPr lang="ar-AE" i="1"/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ar-AE"/>
                          <m:t>∣∣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𝑔</m:t>
                            </m:r>
                          </m:e>
                          <m:sub>
                            <m:r>
                              <a:rPr lang="ar-AE" i="1"/>
                              <m:t>𝑗</m:t>
                            </m:r>
                          </m:sub>
                        </m:sSub>
                        <m:r>
                          <a:rPr lang="ar-AE"/>
                          <m:t>∣</m:t>
                        </m:r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/>
                              <m:t>∣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𝑔</m:t>
                        </m:r>
                      </m:e>
                      <m:sub>
                        <m:r>
                          <a:rPr lang="ar-AE" i="1"/>
                          <m:t>𝑗</m:t>
                        </m:r>
                      </m:sub>
                    </m:sSub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pl-PL" b="1" dirty="0"/>
                  <a:t>2. </a:t>
                </a:r>
                <a:r>
                  <a:rPr lang="ar-AE" b="1" dirty="0"/>
                  <a:t> </a:t>
                </a:r>
                <a:r>
                  <a:rPr lang="pl-PL" b="1" dirty="0" err="1"/>
                  <a:t>Task</a:t>
                </a:r>
                <a:r>
                  <a:rPr lang="pl-PL" b="1" dirty="0"/>
                  <a:t> </a:t>
                </a:r>
                <a:r>
                  <a:rPr lang="pl-PL" b="1" dirty="0" err="1"/>
                  <a:t>weighting</a:t>
                </a:r>
                <a:endParaRPr lang="pl-PL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𝜆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/>
                      <m:t>≠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𝜆</m:t>
                        </m:r>
                      </m:e>
                      <m:sub>
                        <m:r>
                          <a:rPr lang="ar-AE" i="1"/>
                          <m:t>𝑗</m:t>
                        </m:r>
                      </m:sub>
                    </m:sSub>
                  </m:oMath>
                </a14:m>
                <a:endParaRPr lang="pl-PL" dirty="0"/>
              </a:p>
              <a:p>
                <a:pPr marL="0" indent="0">
                  <a:buNone/>
                </a:pPr>
                <a:r>
                  <a:rPr lang="pl-PL" dirty="0"/>
                  <a:t>Nadanie uczonych wag dla poszczególnych </a:t>
                </a:r>
                <a:r>
                  <a:rPr lang="pl-PL" dirty="0" err="1"/>
                  <a:t>endpointow</a:t>
                </a:r>
                <a:endParaRPr lang="pl-PL" dirty="0"/>
              </a:p>
              <a:p>
                <a:pPr marL="0" indent="0">
                  <a:buNone/>
                </a:pPr>
                <a:r>
                  <a:rPr lang="pl-PL" dirty="0"/>
                  <a:t>To nam daje istotność danego </a:t>
                </a:r>
                <a:r>
                  <a:rPr lang="pl-PL" dirty="0" err="1"/>
                  <a:t>tasku</a:t>
                </a:r>
                <a:r>
                  <a:rPr lang="pl-PL" dirty="0"/>
                  <a:t> w liczeniu ogólnego LOSS</a:t>
                </a:r>
                <a:endParaRPr lang="ar-AE" dirty="0"/>
              </a:p>
              <a:p>
                <a:pPr marL="0" indent="0">
                  <a:buNone/>
                </a:pPr>
                <a:r>
                  <a:rPr lang="ar-AE" b="1" dirty="0"/>
                  <a:t>3</a:t>
                </a:r>
                <a:r>
                  <a:rPr lang="pl-PL" b="1" dirty="0"/>
                  <a:t>. </a:t>
                </a:r>
                <a:r>
                  <a:rPr lang="pl-PL" b="1" dirty="0" err="1"/>
                  <a:t>Task</a:t>
                </a:r>
                <a:r>
                  <a:rPr lang="pl-PL" b="1" dirty="0"/>
                  <a:t> </a:t>
                </a:r>
                <a:r>
                  <a:rPr lang="pl-PL" b="1" dirty="0" err="1"/>
                  <a:t>grouping</a:t>
                </a:r>
                <a:endParaRPr lang="pl-PL" b="1" dirty="0"/>
              </a:p>
              <a:p>
                <a:r>
                  <a:rPr lang="pl-PL" dirty="0"/>
                  <a:t>osobne </a:t>
                </a:r>
                <a:r>
                  <a:rPr lang="pl-PL" dirty="0" err="1"/>
                  <a:t>heady</a:t>
                </a:r>
                <a:r>
                  <a:rPr lang="pl-PL" dirty="0"/>
                  <a:t> / albo cale modele dla tylko dla dodatnio skorelowanych </a:t>
                </a:r>
                <a:r>
                  <a:rPr lang="pl-PL" dirty="0" err="1"/>
                  <a:t>taskow</a:t>
                </a:r>
                <a:r>
                  <a:rPr lang="pl-PL" dirty="0"/>
                  <a:t> , nie dopuszczamy do sytuacji gdzie mamy silnie ujemna korelacje</a:t>
                </a:r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721F16AD-B3BD-648D-96ED-56A81FF247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5420" y="1690688"/>
                <a:ext cx="10418379" cy="4486275"/>
              </a:xfrm>
              <a:blipFill>
                <a:blip r:embed="rId2"/>
                <a:stretch>
                  <a:fillRect l="-1053" t="-2717" b="-380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148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8498B4-AD3F-E857-98F9-5CAC16C5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PCGRAD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8B2A34B-D9C0-FF3E-7219-D110571B6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 err="1"/>
              <a:t>PCGrad</a:t>
            </a:r>
            <a:r>
              <a:rPr lang="pl-PL" dirty="0"/>
              <a:t> działa w następujący sposób:</a:t>
            </a:r>
          </a:p>
          <a:p>
            <a:r>
              <a:rPr lang="pl-PL" b="1" dirty="0"/>
              <a:t>Detekcja konfliktu</a:t>
            </a:r>
            <a:r>
              <a:rPr lang="pl-PL" dirty="0"/>
              <a:t>: Sprawdza, czy gradienty dwóch zadań są ze sobą sprzeczne, mierząc ich podobieństwo cosinusowe </a:t>
            </a:r>
          </a:p>
          <a:p>
            <a:r>
              <a:rPr lang="pl-PL" b="1" dirty="0"/>
              <a:t>Projekcja (</a:t>
            </a:r>
            <a:r>
              <a:rPr lang="pl-PL" b="1" dirty="0" err="1"/>
              <a:t>Surgery</a:t>
            </a:r>
            <a:r>
              <a:rPr lang="pl-PL" b="1" dirty="0"/>
              <a:t>)</a:t>
            </a:r>
            <a:r>
              <a:rPr lang="pl-PL" dirty="0"/>
              <a:t>: Jeśli wykryto konflikt, gradient jednego zadania jest rzutowany (projektowany) na płaszczyznę prostopadłą do gradientu drugiego zadania.</a:t>
            </a:r>
          </a:p>
          <a:p>
            <a:r>
              <a:rPr lang="pl-PL" b="1" dirty="0"/>
              <a:t>Eliminacja konfliktu</a:t>
            </a:r>
            <a:r>
              <a:rPr lang="pl-PL" dirty="0"/>
              <a:t>: Dzięki temu usuwana jest ta część gradientu, która powoduje destrukcyjne interferencje między </a:t>
            </a:r>
            <a:r>
              <a:rPr lang="pl-PL" dirty="0" err="1"/>
              <a:t>zadaniam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8413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2BEE78-86F7-1084-65FE-35CFD9D9C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386" y="249511"/>
            <a:ext cx="10515600" cy="1325563"/>
          </a:xfrm>
        </p:spPr>
        <p:txBody>
          <a:bodyPr/>
          <a:lstStyle/>
          <a:p>
            <a:r>
              <a:rPr lang="pl-PL" b="1" dirty="0"/>
              <a:t>Schemat modelu</a:t>
            </a:r>
            <a:endParaRPr lang="pl-P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94FB26D-01B7-0FA8-CAAB-B4020988D1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5420" y="1690688"/>
                <a:ext cx="10418379" cy="4802187"/>
              </a:xfrm>
            </p:spPr>
            <p:txBody>
              <a:bodyPr>
                <a:normAutofit/>
              </a:bodyPr>
              <a:lstStyle/>
              <a:p>
                <a:r>
                  <a:rPr lang="pl-PL" dirty="0"/>
                  <a:t>SMILES przekształcamy na graf </a:t>
                </a:r>
                <a14:m>
                  <m:oMath xmlns:m="http://schemas.openxmlformats.org/officeDocument/2006/math">
                    <m:r>
                      <a:rPr lang="pl-PL" b="0" i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l-PL" i="1"/>
                      <m:t>𝐺</m:t>
                    </m:r>
                  </m:oMath>
                </a14:m>
                <a:endParaRPr lang="pl-PL" dirty="0"/>
              </a:p>
              <a:p>
                <a:r>
                  <a:rPr lang="pl-PL" dirty="0"/>
                  <a:t>Deskryptory oraz cechy dodatkowe do modelu - x</a:t>
                </a:r>
              </a:p>
              <a:p>
                <a:endParaRPr lang="pl-P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𝐺𝐼𝑁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𝑀𝐿𝑃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ar-AE" smtClean="0">
                              <a:latin typeface="Cambria Math" panose="02040503050406030204" pitchFamily="18" charset="0"/>
                            </a:rPr>
                            <m:t>∣∣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endParaRPr lang="ar-AE" dirty="0"/>
              </a:p>
              <a:p>
                <a:r>
                  <a:rPr lang="pl-PL" dirty="0"/>
                  <a:t>Dwie ścieżki przetwarzania są łączone w jeden </a:t>
                </a:r>
                <a:r>
                  <a:rPr lang="pl-PL" dirty="0" err="1"/>
                  <a:t>embedding</a:t>
                </a:r>
                <a:r>
                  <a:rPr lang="pl-PL" dirty="0"/>
                  <a:t>, który trafia do wielu głowic.</a:t>
                </a:r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94FB26D-01B7-0FA8-CAAB-B4020988D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5420" y="1690688"/>
                <a:ext cx="10418379" cy="4802187"/>
              </a:xfrm>
              <a:blipFill>
                <a:blip r:embed="rId2"/>
                <a:stretch>
                  <a:fillRect l="-1053" t="-215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12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DCC2D1-9F5A-2229-39D2-B4245ED6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Dlaczego GNN?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1B86C57-029D-C904-6CBE-C7D299D97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 Molekuła to graf (atomy + wiązania)</a:t>
            </a:r>
          </a:p>
          <a:p>
            <a:r>
              <a:rPr lang="pl-PL" dirty="0"/>
              <a:t> GNN uczy reprezentacji struktury chemicznej</a:t>
            </a:r>
          </a:p>
          <a:p>
            <a:r>
              <a:rPr lang="pl-PL" dirty="0"/>
              <a:t> Lepsze niż ręczne cechy (Morgan, </a:t>
            </a:r>
            <a:r>
              <a:rPr lang="pl-PL" dirty="0" err="1"/>
              <a:t>RDKit</a:t>
            </a:r>
            <a:r>
              <a:rPr lang="pl-PL" dirty="0"/>
              <a:t>)</a:t>
            </a:r>
          </a:p>
          <a:p>
            <a:r>
              <a:rPr lang="pl-PL" dirty="0"/>
              <a:t> </a:t>
            </a:r>
            <a:r>
              <a:rPr lang="pl-PL" dirty="0" err="1"/>
              <a:t>Embedding</a:t>
            </a:r>
            <a:r>
              <a:rPr lang="pl-PL" dirty="0"/>
              <a:t> dostosowany do </a:t>
            </a:r>
            <a:r>
              <a:rPr lang="pl-PL" dirty="0" err="1"/>
              <a:t>tasków</a:t>
            </a:r>
            <a:r>
              <a:rPr lang="pl-PL" dirty="0"/>
              <a:t> (</a:t>
            </a:r>
            <a:r>
              <a:rPr lang="pl-PL" dirty="0" err="1"/>
              <a:t>task-aware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7214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AD32AD-8169-045F-E528-4B9E6B721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305" y="84083"/>
            <a:ext cx="6923692" cy="989232"/>
          </a:xfrm>
        </p:spPr>
        <p:txBody>
          <a:bodyPr/>
          <a:lstStyle/>
          <a:p>
            <a:r>
              <a:rPr lang="pl-PL" b="1" dirty="0"/>
              <a:t>Reprezentacja </a:t>
            </a:r>
            <a:r>
              <a:rPr lang="pl-PL" b="1" dirty="0" err="1"/>
              <a:t>czasteczki</a:t>
            </a:r>
            <a:endParaRPr lang="pl-PL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76F45846-0D8A-24FA-F498-DC5DA17738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0412" y="1188928"/>
                <a:ext cx="5108029" cy="521187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pl-PL" b="1" dirty="0"/>
                  <a:t>Każdy atom ma wektor: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/>
                        </m:ctrlPr>
                      </m:sSubPr>
                      <m:e>
                        <m:r>
                          <a:rPr lang="ar-AE" b="1" i="1"/>
                          <m:t>𝒙</m:t>
                        </m:r>
                      </m:e>
                      <m:sub>
                        <m:r>
                          <a:rPr lang="ar-AE" b="1" i="1"/>
                          <m:t>𝒗</m:t>
                        </m:r>
                      </m:sub>
                    </m:sSub>
                    <m:r>
                      <a:rPr lang="ar-AE" b="1"/>
                      <m:t>∈</m:t>
                    </m:r>
                    <m:sSup>
                      <m:sSupPr>
                        <m:ctrlPr>
                          <a:rPr lang="ar-AE" b="1" i="1"/>
                        </m:ctrlPr>
                      </m:sSupPr>
                      <m:e>
                        <m:r>
                          <a:rPr lang="ar-AE" b="1"/>
                          <m:t>ℝ</m:t>
                        </m:r>
                      </m:e>
                      <m:sup>
                        <m:r>
                          <a:rPr lang="ar-AE" b="1" i="1"/>
                          <m:t>𝟗</m:t>
                        </m:r>
                      </m:sup>
                    </m:sSup>
                  </m:oMath>
                </a14:m>
                <a:r>
                  <a:rPr lang="pl-PL" b="1" dirty="0"/>
                  <a:t>   </a:t>
                </a:r>
              </a:p>
              <a:p>
                <a:pPr marL="0" indent="0">
                  <a:buNone/>
                </a:pPr>
                <a:endParaRPr lang="ar-AE" b="1" dirty="0"/>
              </a:p>
              <a:p>
                <a:pPr marL="0" indent="0">
                  <a:buNone/>
                </a:pPr>
                <a:r>
                  <a:rPr lang="pl-PL" b="1" dirty="0"/>
                  <a:t>Cechy:</a:t>
                </a:r>
                <a:endParaRPr lang="pl-PL" dirty="0"/>
              </a:p>
              <a:p>
                <a:r>
                  <a:rPr lang="pl-PL" dirty="0"/>
                  <a:t>liczba atomowa </a:t>
                </a:r>
              </a:p>
              <a:p>
                <a:r>
                  <a:rPr lang="pl-PL" dirty="0"/>
                  <a:t>stopień (</a:t>
                </a:r>
                <a:r>
                  <a:rPr lang="pl-PL" dirty="0" err="1"/>
                  <a:t>degree</a:t>
                </a:r>
                <a:r>
                  <a:rPr lang="pl-PL" dirty="0"/>
                  <a:t>) </a:t>
                </a:r>
              </a:p>
              <a:p>
                <a:r>
                  <a:rPr lang="pl-PL" dirty="0"/>
                  <a:t>ładunek formalny </a:t>
                </a:r>
              </a:p>
              <a:p>
                <a:r>
                  <a:rPr lang="pl-PL" dirty="0"/>
                  <a:t>aromatyczność </a:t>
                </a:r>
              </a:p>
              <a:p>
                <a:r>
                  <a:rPr lang="pl-PL" dirty="0"/>
                  <a:t>wartościowość </a:t>
                </a:r>
              </a:p>
              <a:p>
                <a:r>
                  <a:rPr lang="pl-PL" dirty="0"/>
                  <a:t>hybrydyzacja </a:t>
                </a:r>
              </a:p>
              <a:p>
                <a:r>
                  <a:rPr lang="pl-PL" dirty="0"/>
                  <a:t>elektrony rodnikowe </a:t>
                </a:r>
              </a:p>
              <a:p>
                <a:r>
                  <a:rPr lang="pl-PL" dirty="0"/>
                  <a:t>masa (skalowana) </a:t>
                </a:r>
              </a:p>
              <a:p>
                <a:r>
                  <a:rPr lang="pl-PL" dirty="0"/>
                  <a:t>czy w pierścieniu</a:t>
                </a:r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76F45846-0D8A-24FA-F498-DC5DA17738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412" y="1188928"/>
                <a:ext cx="5108029" cy="5211872"/>
              </a:xfrm>
              <a:blipFill>
                <a:blip r:embed="rId2"/>
                <a:stretch>
                  <a:fillRect l="-2148" t="-16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816F885D-2A97-9240-0844-F69AC9E757AE}"/>
              </a:ext>
            </a:extLst>
          </p:cNvPr>
          <p:cNvSpPr txBox="1"/>
          <p:nvPr/>
        </p:nvSpPr>
        <p:spPr>
          <a:xfrm>
            <a:off x="6243146" y="3605049"/>
            <a:ext cx="55284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000" b="1" dirty="0"/>
              <a:t>Krawędzie (wiązania)</a:t>
            </a:r>
          </a:p>
          <a:p>
            <a:r>
              <a:rPr lang="pl-PL" sz="3000" b="1" dirty="0" err="1"/>
              <a:t>edge_index</a:t>
            </a:r>
            <a:r>
              <a:rPr lang="pl-PL" sz="3000" b="1" dirty="0"/>
              <a:t> ∈ R2 × ∣E∣ </a:t>
            </a:r>
          </a:p>
          <a:p>
            <a:endParaRPr lang="pl-PL" sz="3000" dirty="0"/>
          </a:p>
          <a:p>
            <a:r>
              <a:rPr lang="pl-PL" sz="3000" dirty="0"/>
              <a:t>graf nieskierowany ma  krawędzie w obie strony</a:t>
            </a:r>
          </a:p>
          <a:p>
            <a:endParaRPr lang="pl-PL" sz="3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582A503-A03E-C4DD-7A74-DB8FCBA923F8}"/>
                  </a:ext>
                </a:extLst>
              </p:cNvPr>
              <p:cNvSpPr txBox="1"/>
              <p:nvPr/>
            </p:nvSpPr>
            <p:spPr>
              <a:xfrm>
                <a:off x="6096000" y="1188928"/>
                <a:ext cx="6611005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l-PL" sz="2400" b="1" dirty="0"/>
                  <a:t>Każda cząsteczka jest zamieniana na graf </a:t>
                </a:r>
              </a:p>
              <a:p>
                <a:endParaRPr lang="pl-PL" sz="2400" b="1" dirty="0"/>
              </a:p>
              <a:p>
                <a:r>
                  <a:rPr lang="pl-PL" sz="2400" b="1" dirty="0"/>
                  <a:t>G=(V,E) </a:t>
                </a:r>
                <a14:m>
                  <m:oMath xmlns:m="http://schemas.openxmlformats.org/officeDocument/2006/math">
                    <m:r>
                      <a:rPr lang="pl-PL" sz="24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pl-PL" sz="2400" b="1" dirty="0"/>
                  <a:t>— atomy </a:t>
                </a:r>
              </a:p>
              <a:p>
                <a14:m>
                  <m:oMath xmlns:m="http://schemas.openxmlformats.org/officeDocument/2006/math">
                    <m:r>
                      <a:rPr lang="pl-PL" sz="2400" b="1" i="1" smtClean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pl-PL" sz="2400" b="1" dirty="0"/>
                  <a:t>— wiązania </a:t>
                </a:r>
              </a:p>
            </p:txBody>
          </p:sp>
        </mc:Choice>
        <mc:Fallback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582A503-A03E-C4DD-7A74-DB8FCBA92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188928"/>
                <a:ext cx="6611005" cy="1569660"/>
              </a:xfrm>
              <a:prstGeom prst="rect">
                <a:avLst/>
              </a:prstGeom>
              <a:blipFill>
                <a:blip r:embed="rId3"/>
                <a:stretch>
                  <a:fillRect l="-1384" t="-3101" b="-77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292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1FAC04D-F734-D032-E724-136D8040F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pl-PL" b="1" dirty="0"/>
              <a:t>Noga grafowa (GIN)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D307C5-0C87-8D44-4873-1CE1CB10F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pl-PL" sz="2400" dirty="0"/>
              <a:t>GIN agreguje informacje z sąsiednich atomów i buduje reprezentację całej cząsteczki.</a:t>
            </a:r>
          </a:p>
          <a:p>
            <a:pPr marL="0" indent="0">
              <a:buNone/>
            </a:pPr>
            <a:endParaRPr lang="pl-PL" sz="2400" dirty="0"/>
          </a:p>
          <a:p>
            <a:pPr marL="0" indent="0">
              <a:buNone/>
            </a:pPr>
            <a:r>
              <a:rPr lang="pl-PL" sz="2400" dirty="0"/>
              <a:t>Cechy wszystkich atomów </a:t>
            </a:r>
            <a:r>
              <a:rPr lang="pl-PL" sz="2400" dirty="0" err="1"/>
              <a:t>sasiednich</a:t>
            </a:r>
            <a:r>
              <a:rPr lang="pl-PL" sz="2400" dirty="0"/>
              <a:t> są sumowane, aby uzyskać jeden wektor opisujący całą cząsteczkę.</a:t>
            </a:r>
          </a:p>
          <a:p>
            <a:pPr marL="0" indent="0">
              <a:buNone/>
            </a:pPr>
            <a:endParaRPr lang="pl-PL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8710562-2F80-5014-7685-334951626827}"/>
                  </a:ext>
                </a:extLst>
              </p:cNvPr>
              <p:cNvSpPr txBox="1"/>
              <p:nvPr/>
            </p:nvSpPr>
            <p:spPr>
              <a:xfrm>
                <a:off x="105103" y="809828"/>
                <a:ext cx="11981794" cy="1524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l-PL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sz="3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l-PL" sz="36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pl-PL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pl-PL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l-PL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l-PL" sz="3600" i="0">
                              <a:latin typeface="Cambria Math" panose="02040503050406030204" pitchFamily="18" charset="0"/>
                            </a:rPr>
                            <m:t>MLP</m:t>
                          </m:r>
                        </m:e>
                        <m:sup>
                          <m:d>
                            <m:dPr>
                              <m:ctrlPr>
                                <a:rPr lang="pl-PL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pl-PL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l-PL" sz="3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l-PL" sz="36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pl-PL" sz="36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bSup>
                            <m:sSubSupPr>
                              <m:ctrlPr>
                                <a:rPr lang="pl-PL" sz="36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l-PL" sz="36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l-PL" sz="36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pl-PL" sz="36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36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l-PL" sz="36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l-PL" sz="36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pl-PL" sz="3600" b="0" i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grow m:val="on"/>
                              <m:supHide m:val="on"/>
                              <m:ctrlPr>
                                <a:rPr lang="pl-PL" sz="36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l-PL" sz="3600" b="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pl-PL" sz="3600" b="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pl-PL" sz="3600" b="0" i="0">
                                  <a:latin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pl-PL" sz="36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36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pl-PL" sz="3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l-PL" sz="3600" b="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l-PL" sz="3600" b="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pl-PL" sz="3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36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pl-PL" sz="3600" b="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l-PL" sz="3600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pl-PL" sz="3600" dirty="0"/>
              </a:p>
            </p:txBody>
          </p:sp>
        </mc:Choice>
        <mc:Fallback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8710562-2F80-5014-7685-334951626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3" y="809828"/>
                <a:ext cx="11981794" cy="15242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510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9ABA95EB-C7DF-03AF-39D2-C83244A77E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620" y="1743211"/>
                <a:ext cx="11006959" cy="501412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 smtClean="0"/>
                        </m:ctrlPr>
                      </m:sSubSupPr>
                      <m:e>
                        <m:r>
                          <a:rPr lang="ar-AE" i="1"/>
                          <m:t>h</m:t>
                        </m:r>
                      </m:e>
                      <m:sub>
                        <m:r>
                          <a:rPr lang="ar-AE" i="1"/>
                          <m:t>𝑣</m:t>
                        </m:r>
                      </m:sub>
                      <m:sup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ar-AE" dirty="0"/>
                  <a:t>— </a:t>
                </a:r>
                <a:r>
                  <a:rPr lang="pl-PL" dirty="0"/>
                  <a:t> reprezentacja atomu </a:t>
                </a:r>
                <a14:m>
                  <m:oMath xmlns:m="http://schemas.openxmlformats.org/officeDocument/2006/math">
                    <m:r>
                      <a:rPr lang="pl-PL" i="1"/>
                      <m:t>𝑣</m:t>
                    </m:r>
                  </m:oMath>
                </a14:m>
                <a:r>
                  <a:rPr lang="pl-PL" dirty="0"/>
                  <a:t> po </a:t>
                </a:r>
                <a14:m>
                  <m:oMath xmlns:m="http://schemas.openxmlformats.org/officeDocument/2006/math">
                    <m:r>
                      <a:rPr lang="pl-PL" i="1"/>
                      <m:t>𝑘</m:t>
                    </m:r>
                  </m:oMath>
                </a14:m>
                <a:r>
                  <a:rPr lang="pl-PL" dirty="0"/>
                  <a:t>-tej warstwie </a:t>
                </a:r>
              </a:p>
              <a:p>
                <a:endParaRPr lang="pl-PL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ar-AE"/>
                        </m:ctrlPr>
                      </m:sSubSupPr>
                      <m:e>
                        <m:r>
                          <a:rPr lang="ar-AE" i="1"/>
                          <m:t>h</m:t>
                        </m:r>
                      </m:e>
                      <m:sub>
                        <m:r>
                          <a:rPr lang="ar-AE" i="1"/>
                          <m:t>𝑣</m:t>
                        </m:r>
                      </m:sub>
                      <m:sup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𝑘</m:t>
                            </m:r>
                            <m:r>
                              <a:rPr lang="ar-AE"/>
                              <m:t>−</m:t>
                            </m:r>
                            <m:r>
                              <a:rPr lang="ar-AE"/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lang="pl-PL" dirty="0"/>
                  <a:t>  </a:t>
                </a:r>
                <a:r>
                  <a:rPr lang="ar-AE" dirty="0"/>
                  <a:t>— </a:t>
                </a:r>
                <a:r>
                  <a:rPr lang="pl-PL" dirty="0"/>
                  <a:t> cechy atomu z poprzedniej warstwy </a:t>
                </a:r>
              </a:p>
              <a:p>
                <a:endParaRPr lang="pl-PL" dirty="0"/>
              </a:p>
              <a:p>
                <a14:m>
                  <m:oMath xmlns:m="http://schemas.openxmlformats.org/officeDocument/2006/math">
                    <m:r>
                      <a:rPr lang="pl-PL"/>
                      <m:t>𝒩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𝑣</m:t>
                        </m:r>
                      </m:e>
                    </m:d>
                  </m:oMath>
                </a14:m>
                <a:r>
                  <a:rPr lang="pl-PL" dirty="0"/>
                  <a:t> </a:t>
                </a:r>
                <a:r>
                  <a:rPr lang="ar-AE" dirty="0"/>
                  <a:t>— </a:t>
                </a:r>
                <a:r>
                  <a:rPr lang="pl-PL" dirty="0"/>
                  <a:t> zbiór sąsiadów atomu </a:t>
                </a:r>
              </a:p>
              <a:p>
                <a:endParaRPr lang="pl-PL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/>
                        </m:ctrlPr>
                      </m:naryPr>
                      <m:sub>
                        <m:r>
                          <a:rPr lang="ar-AE" i="1"/>
                          <m:t>𝑢</m:t>
                        </m:r>
                        <m:r>
                          <a:rPr lang="ar-AE"/>
                          <m:t>∈</m:t>
                        </m:r>
                        <m:r>
                          <a:rPr lang="ar-AE"/>
                          <m:t>𝒩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𝑣</m:t>
                            </m:r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h</m:t>
                            </m:r>
                          </m:e>
                          <m:sub>
                            <m:r>
                              <a:rPr lang="ar-AE" i="1"/>
                              <m:t>𝑢</m:t>
                            </m:r>
                          </m:sub>
                        </m:sSub>
                      </m:e>
                    </m:nary>
                  </m:oMath>
                </a14:m>
                <a:r>
                  <a:rPr lang="ar-AE" dirty="0"/>
                  <a:t>— </a:t>
                </a:r>
                <a:r>
                  <a:rPr lang="pl-PL" dirty="0"/>
                  <a:t> agregacja sumowaniem informacji z sąsiadów </a:t>
                </a:r>
              </a:p>
              <a:p>
                <a:endParaRPr lang="pl-PL" dirty="0"/>
              </a:p>
              <a:p>
                <a14:m>
                  <m:oMath xmlns:m="http://schemas.openxmlformats.org/officeDocument/2006/math">
                    <m:r>
                      <a:rPr lang="pl-PL" i="1"/>
                      <m:t>𝜖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dirty="0"/>
                  <a:t>—  waga informacji własnej atomu </a:t>
                </a:r>
              </a:p>
              <a:p>
                <a:endParaRPr lang="pl-PL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/>
                      <m:t>MLP</m:t>
                    </m:r>
                    <m:r>
                      <a:rPr lang="pl-PL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dirty="0"/>
                  <a:t>—  nieliniowa transformacja</a:t>
                </a:r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9ABA95EB-C7DF-03AF-39D2-C83244A77E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620" y="1743211"/>
                <a:ext cx="11006959" cy="5014120"/>
              </a:xfrm>
              <a:blipFill>
                <a:blip r:embed="rId2"/>
                <a:stretch>
                  <a:fillRect l="-775" t="-121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7" name="pole tekstowe 546">
                <a:extLst>
                  <a:ext uri="{FF2B5EF4-FFF2-40B4-BE49-F238E27FC236}">
                    <a16:creationId xmlns:a16="http://schemas.microsoft.com/office/drawing/2014/main" id="{F851C9C4-74DC-58B3-B7F2-5981D85A372A}"/>
                  </a:ext>
                </a:extLst>
              </p:cNvPr>
              <p:cNvSpPr txBox="1"/>
              <p:nvPr/>
            </p:nvSpPr>
            <p:spPr>
              <a:xfrm>
                <a:off x="2739870" y="192109"/>
                <a:ext cx="9703677" cy="1285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l-PL" sz="3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sz="3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l-PL" sz="30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pl-PL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pl-PL" sz="3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l-PL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l-PL" sz="3000" i="0">
                              <a:latin typeface="Cambria Math" panose="02040503050406030204" pitchFamily="18" charset="0"/>
                            </a:rPr>
                            <m:t>MLP</m:t>
                          </m:r>
                        </m:e>
                        <m:sup>
                          <m:d>
                            <m:dPr>
                              <m:ctrlPr>
                                <a:rPr lang="pl-PL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pl-PL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l-PL" sz="3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l-PL" sz="30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pl-PL" sz="30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bSup>
                            <m:sSubSupPr>
                              <m:ctrlPr>
                                <a:rPr lang="pl-PL" sz="30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l-PL" sz="30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l-PL" sz="30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pl-PL" sz="3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30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l-PL" sz="30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l-PL" sz="30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pl-PL" sz="3000" b="0" i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grow m:val="on"/>
                              <m:supHide m:val="on"/>
                              <m:ctrlPr>
                                <a:rPr lang="pl-PL" sz="30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l-PL" sz="3000" b="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pl-PL" sz="3000" b="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pl-PL" sz="3000" b="0" i="0">
                                  <a:latin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pl-PL" sz="3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30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pl-PL" sz="3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l-PL" sz="3000" b="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l-PL" sz="3000" b="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pl-PL" sz="3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30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pl-PL" sz="3000" b="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l-PL" sz="3000" b="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pl-PL" sz="3000" dirty="0"/>
              </a:p>
            </p:txBody>
          </p:sp>
        </mc:Choice>
        <mc:Fallback>
          <p:sp>
            <p:nvSpPr>
              <p:cNvPr id="547" name="pole tekstowe 546">
                <a:extLst>
                  <a:ext uri="{FF2B5EF4-FFF2-40B4-BE49-F238E27FC236}">
                    <a16:creationId xmlns:a16="http://schemas.microsoft.com/office/drawing/2014/main" id="{F851C9C4-74DC-58B3-B7F2-5981D85A3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870" y="192109"/>
                <a:ext cx="9703677" cy="12855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8" name="pole tekstowe 547">
            <a:extLst>
              <a:ext uri="{FF2B5EF4-FFF2-40B4-BE49-F238E27FC236}">
                <a16:creationId xmlns:a16="http://schemas.microsoft.com/office/drawing/2014/main" id="{CFA04BF9-C17E-1377-5511-D7DA7BC85875}"/>
              </a:ext>
            </a:extLst>
          </p:cNvPr>
          <p:cNvSpPr txBox="1"/>
          <p:nvPr/>
        </p:nvSpPr>
        <p:spPr>
          <a:xfrm>
            <a:off x="344562" y="420275"/>
            <a:ext cx="311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b="1" dirty="0"/>
              <a:t>WZOR GIN :</a:t>
            </a:r>
          </a:p>
        </p:txBody>
      </p:sp>
    </p:spTree>
    <p:extLst>
      <p:ext uri="{BB962C8B-B14F-4D97-AF65-F5344CB8AC3E}">
        <p14:creationId xmlns:p14="http://schemas.microsoft.com/office/powerpoint/2010/main" val="24003116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2FB124-3812-F2CA-E9F1-ED43466B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Dlaczego suma?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81D0EF5-45B4-0DDE-F03B-75E6E8629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Nowa reprezentacja atomu to suma jego własnych cech oraz cech jego sąsiadów.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b="1" dirty="0"/>
              <a:t>Suma : </a:t>
            </a:r>
          </a:p>
          <a:p>
            <a:r>
              <a:rPr lang="pl-PL" b="1" dirty="0"/>
              <a:t>zachowuje informację o liczbie sąsiadów</a:t>
            </a:r>
          </a:p>
          <a:p>
            <a:r>
              <a:rPr lang="pl-PL" b="1" dirty="0"/>
              <a:t>rozróżnia różne struktury</a:t>
            </a:r>
          </a:p>
          <a:p>
            <a:pPr marL="0" indent="0">
              <a:buNone/>
            </a:pPr>
            <a:endParaRPr lang="pl-PL" b="1" dirty="0"/>
          </a:p>
          <a:p>
            <a:pPr marL="0" indent="0">
              <a:buNone/>
            </a:pPr>
            <a:r>
              <a:rPr lang="pl-PL" dirty="0"/>
              <a:t>Średnia jako </a:t>
            </a:r>
            <a:r>
              <a:rPr lang="pl-PL" dirty="0" err="1"/>
              <a:t>pooling</a:t>
            </a:r>
            <a:r>
              <a:rPr lang="pl-PL" dirty="0"/>
              <a:t> by zgubiła informacje, a  suma zachowuje strukturę chemiczną.</a:t>
            </a:r>
          </a:p>
          <a:p>
            <a:pPr marL="0" indent="0">
              <a:buNone/>
            </a:pPr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39891547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B32E25-0972-8C85-3720-DD89B580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817" y="0"/>
            <a:ext cx="10515600" cy="1325563"/>
          </a:xfrm>
        </p:spPr>
        <p:txBody>
          <a:bodyPr/>
          <a:lstStyle/>
          <a:p>
            <a:r>
              <a:rPr lang="pl-PL" b="1" dirty="0"/>
              <a:t>Noga wektorowa (MLP)</a:t>
            </a:r>
            <a:endParaRPr lang="pl-P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B283877-31AF-1703-C015-B8FF4E7659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3813" y="1142452"/>
                <a:ext cx="10649608" cy="55631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h</m:t>
                          </m:r>
                        </m:e>
                        <m:sub>
                          <m:r>
                            <a:rPr lang="ar-AE" i="1"/>
                            <m:t>𝑣</m:t>
                          </m:r>
                        </m:sub>
                      </m:sSub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 i="1"/>
                            <m:t>𝑀𝐿𝑃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pl-PL" dirty="0"/>
                  <a:t>Morgan </a:t>
                </a:r>
                <a:r>
                  <a:rPr lang="pl-PL" dirty="0" err="1"/>
                  <a:t>fingerprints</a:t>
                </a:r>
                <a:r>
                  <a:rPr lang="pl-PL" dirty="0"/>
                  <a:t> </a:t>
                </a:r>
              </a:p>
              <a:p>
                <a:r>
                  <a:rPr lang="pl-PL" dirty="0"/>
                  <a:t>deskryptory </a:t>
                </a:r>
                <a:r>
                  <a:rPr lang="pl-PL" dirty="0" err="1"/>
                  <a:t>RDKit</a:t>
                </a:r>
                <a:r>
                  <a:rPr lang="pl-PL" dirty="0"/>
                  <a:t> </a:t>
                </a:r>
                <a:br>
                  <a:rPr lang="pl-PL" dirty="0"/>
                </a:br>
                <a:br>
                  <a:rPr lang="pl-PL" dirty="0"/>
                </a:br>
                <a:r>
                  <a:rPr lang="pl-PL" dirty="0"/>
                  <a:t>MLP przetwarza globalne właściwości cząsteczki, których graf nie oddaje bezpośrednio.</a:t>
                </a:r>
                <a:br>
                  <a:rPr lang="pl-PL" dirty="0"/>
                </a:br>
                <a:endParaRPr lang="pl-P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/>
                        <m:t>h</m:t>
                      </m:r>
                      <m:r>
                        <a:rPr lang="pl-PL"/>
                        <m:t>=</m:t>
                      </m:r>
                      <m:r>
                        <m:rPr>
                          <m:nor/>
                        </m:rPr>
                        <a:rPr lang="pl-PL" i="1"/>
                        <m:t>Concat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h</m:t>
                              </m:r>
                            </m:e>
                            <m:sub>
                              <m:r>
                                <a:rPr lang="ar-AE" i="1"/>
                                <m:t>𝑔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h</m:t>
                              </m:r>
                            </m:e>
                            <m:sub>
                              <m:r>
                                <a:rPr lang="ar-AE" i="1"/>
                                <m:t>𝑣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br>
                  <a:rPr lang="pl-PL" dirty="0"/>
                </a:br>
                <a:r>
                  <a:rPr lang="pl-PL" dirty="0"/>
                  <a:t>Łączymy reprezentację grafową i wektorową w jeden </a:t>
                </a:r>
                <a:r>
                  <a:rPr lang="pl-PL" dirty="0" err="1"/>
                  <a:t>embedding</a:t>
                </a:r>
                <a:r>
                  <a:rPr lang="pl-PL" dirty="0"/>
                  <a:t>.</a:t>
                </a:r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B283877-31AF-1703-C015-B8FF4E7659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3813" y="1142452"/>
                <a:ext cx="10649608" cy="5563147"/>
              </a:xfrm>
              <a:blipFill>
                <a:blip r:embed="rId2"/>
                <a:stretch>
                  <a:fillRect l="-114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5876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973A12-2F46-3709-071D-B42DA889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Multi-</a:t>
            </a:r>
            <a:r>
              <a:rPr lang="pl-PL" b="1" dirty="0" err="1"/>
              <a:t>Head</a:t>
            </a:r>
            <a:r>
              <a:rPr lang="pl-PL" b="1" dirty="0"/>
              <a:t> (MTL)</a:t>
            </a:r>
            <a:endParaRPr lang="pl-P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21B22D2-61F7-0E8A-5E14-AA2E90014D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l-PL" dirty="0"/>
                  <a:t>Dla każdego </a:t>
                </a:r>
                <a:r>
                  <a:rPr lang="pl-PL" dirty="0" err="1"/>
                  <a:t>endpointu</a:t>
                </a:r>
                <a:r>
                  <a:rPr lang="pl-PL" dirty="0"/>
                  <a:t> / </a:t>
                </a:r>
                <a:r>
                  <a:rPr lang="pl-PL" dirty="0" err="1"/>
                  <a:t>tasku</a:t>
                </a:r>
                <a:r>
                  <a:rPr lang="pl-PL" dirty="0"/>
                  <a:t> tworzymy MLP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𝑦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h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pl-PL" dirty="0"/>
                  <a:t>jedna głowica = jeden </a:t>
                </a:r>
                <a:r>
                  <a:rPr lang="pl-PL" dirty="0" err="1"/>
                  <a:t>task</a:t>
                </a:r>
                <a:r>
                  <a:rPr lang="pl-PL" dirty="0"/>
                  <a:t> </a:t>
                </a:r>
              </a:p>
              <a:p>
                <a:pPr marL="0" indent="0">
                  <a:buNone/>
                </a:pPr>
                <a:r>
                  <a:rPr lang="pl-PL" dirty="0"/>
                  <a:t>wspólny </a:t>
                </a:r>
                <a:r>
                  <a:rPr lang="pl-PL" dirty="0" err="1"/>
                  <a:t>backbone</a:t>
                </a:r>
                <a:r>
                  <a:rPr lang="pl-PL" dirty="0"/>
                  <a:t> całego modelu</a:t>
                </a:r>
              </a:p>
              <a:p>
                <a:pPr marL="0" indent="0">
                  <a:buNone/>
                </a:pPr>
                <a:br>
                  <a:rPr lang="pl-PL" dirty="0"/>
                </a:br>
                <a:r>
                  <a:rPr lang="pl-PL" dirty="0"/>
                  <a:t>Model przewiduje wiele właściwości jednocześnie, korzystając ze wspólnej reprezentacji.</a:t>
                </a:r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21B22D2-61F7-0E8A-5E14-AA2E90014D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4629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E7CF38-3EAD-DC50-3668-AC578F32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Funkcja straty</a:t>
            </a:r>
            <a:endParaRPr lang="pl-P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0AE9A1B-C6D2-E2F8-E02F-1C1E8286F7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l-PL" b="1" dirty="0"/>
                  <a:t>Funkcja straty : </a:t>
                </a:r>
              </a:p>
              <a:p>
                <a14:m>
                  <m:oMath xmlns:m="http://schemas.openxmlformats.org/officeDocument/2006/math">
                    <m:r>
                      <a:rPr lang="pl-PL" sz="3600"/>
                      <m:t>ℒ</m:t>
                    </m:r>
                    <m:r>
                      <a:rPr lang="pl-PL" sz="3600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sz="3600" i="1"/>
                        </m:ctrlPr>
                      </m:naryPr>
                      <m:sub>
                        <m:r>
                          <a:rPr lang="ar-AE" sz="3600" i="1"/>
                          <m:t>𝑡</m:t>
                        </m:r>
                        <m:r>
                          <a:rPr lang="ar-AE" sz="3600"/>
                          <m:t>=</m:t>
                        </m:r>
                        <m:r>
                          <a:rPr lang="ar-AE" sz="3600"/>
                          <m:t>1</m:t>
                        </m:r>
                      </m:sub>
                      <m:sup>
                        <m:r>
                          <a:rPr lang="ar-AE" sz="3600" i="1"/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ar-AE" sz="3600" i="1"/>
                            </m:ctrlPr>
                          </m:sSubPr>
                          <m:e>
                            <m:r>
                              <a:rPr lang="ar-AE" sz="3600" i="1"/>
                              <m:t>𝜆</m:t>
                            </m:r>
                          </m:e>
                          <m:sub>
                            <m:r>
                              <a:rPr lang="ar-AE" sz="3600" i="1"/>
                              <m:t>𝑡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sz="3600" i="1"/>
                        </m:ctrlPr>
                      </m:sSubPr>
                      <m:e>
                        <m:r>
                          <a:rPr lang="ar-AE" sz="3600"/>
                          <m:t>ℒ</m:t>
                        </m:r>
                      </m:e>
                      <m:sub>
                        <m:r>
                          <a:rPr lang="ar-AE" sz="3600" i="1"/>
                          <m:t>𝑡</m:t>
                        </m:r>
                      </m:sub>
                    </m:sSub>
                  </m:oMath>
                </a14:m>
                <a:endParaRPr lang="ar-AE" sz="3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3600"/>
                        </m:ctrlPr>
                      </m:sSubPr>
                      <m:e>
                        <m:r>
                          <a:rPr lang="ar-AE" sz="3600"/>
                          <m:t>ℒ</m:t>
                        </m:r>
                      </m:e>
                      <m:sub>
                        <m:r>
                          <a:rPr lang="ar-AE" sz="3600" i="1"/>
                          <m:t>𝑡</m:t>
                        </m:r>
                      </m:sub>
                    </m:sSub>
                    <m:r>
                      <a:rPr lang="ar-AE" sz="3600"/>
                      <m:t>=</m:t>
                    </m:r>
                    <m:r>
                      <a:rPr lang="ar-AE" sz="3600" i="1"/>
                      <m:t>𝐵𝐶𝐸</m:t>
                    </m:r>
                    <m:d>
                      <m:dPr>
                        <m:sepChr m:val=","/>
                        <m:ctrlPr>
                          <a:rPr lang="ar-AE" sz="3600" i="1"/>
                        </m:ctrlPr>
                      </m:dPr>
                      <m:e>
                        <m:sSub>
                          <m:sSubPr>
                            <m:ctrlPr>
                              <a:rPr lang="ar-AE" sz="3600" i="1"/>
                            </m:ctrlPr>
                          </m:sSubPr>
                          <m:e>
                            <m:r>
                              <a:rPr lang="ar-AE" sz="3600" i="1"/>
                              <m:t>𝑦</m:t>
                            </m:r>
                          </m:e>
                          <m:sub>
                            <m:r>
                              <a:rPr lang="ar-AE" sz="3600" i="1"/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3600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ar-AE" sz="3600" i="1"/>
                                </m:ctrlPr>
                              </m:accPr>
                              <m:e>
                                <m:r>
                                  <a:rPr lang="ar-AE" sz="3600" i="1"/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ar-AE" sz="3600" i="1"/>
                              <m:t>𝑡</m:t>
                            </m:r>
                          </m:sub>
                        </m:sSub>
                      </m:e>
                    </m:d>
                    <m:r>
                      <a:rPr lang="ar-AE" sz="3600"/>
                      <m:t>⋅</m:t>
                    </m:r>
                    <m:sSub>
                      <m:sSubPr>
                        <m:ctrlPr>
                          <a:rPr lang="ar-AE" sz="3600" i="1"/>
                        </m:ctrlPr>
                      </m:sSubPr>
                      <m:e>
                        <m:r>
                          <a:rPr lang="ar-AE" sz="3600"/>
                          <m:t>𝟙</m:t>
                        </m:r>
                      </m:e>
                      <m:sub>
                        <m:sSub>
                          <m:sSubPr>
                            <m:ctrlPr>
                              <a:rPr lang="ar-AE" sz="3600" i="1"/>
                            </m:ctrlPr>
                          </m:sSubPr>
                          <m:e>
                            <m:r>
                              <a:rPr lang="ar-AE" sz="3600" i="1"/>
                              <m:t>𝑦</m:t>
                            </m:r>
                          </m:e>
                          <m:sub>
                            <m:r>
                              <a:rPr lang="ar-AE" sz="3600" i="1"/>
                              <m:t>𝑡</m:t>
                            </m:r>
                          </m:sub>
                        </m:sSub>
                        <m:r>
                          <a:rPr lang="ar-AE" sz="3600"/>
                          <m:t>≠</m:t>
                        </m:r>
                        <m:r>
                          <a:rPr lang="ar-AE" sz="3600" i="1"/>
                          <m:t>𝑁𝑎𝑁</m:t>
                        </m:r>
                      </m:sub>
                    </m:sSub>
                  </m:oMath>
                </a14:m>
                <a:endParaRPr lang="pl-PL" sz="3600" dirty="0"/>
              </a:p>
              <a:p>
                <a:endParaRPr lang="ar-AE" sz="3600" dirty="0"/>
              </a:p>
              <a:p>
                <a:pPr marL="0" indent="0">
                  <a:buNone/>
                </a:pPr>
                <a:r>
                  <a:rPr lang="pl-PL" dirty="0"/>
                  <a:t>Liczymy poszczególne wartości straty dla każdego </a:t>
                </a:r>
                <a:r>
                  <a:rPr lang="pl-PL" dirty="0" err="1"/>
                  <a:t>endpointu</a:t>
                </a:r>
                <a:r>
                  <a:rPr lang="pl-PL" dirty="0"/>
                  <a:t> i sumujemy je</a:t>
                </a:r>
              </a:p>
              <a:p>
                <a:pPr marL="0" indent="0">
                  <a:buNone/>
                </a:pPr>
                <a:br>
                  <a:rPr lang="pl-PL" dirty="0"/>
                </a:br>
                <a:r>
                  <a:rPr lang="pl-PL" dirty="0"/>
                  <a:t>Strata jest liczona tylko dla dostępnych etykiet (maskowanie </a:t>
                </a:r>
                <a:r>
                  <a:rPr lang="pl-PL" dirty="0" err="1"/>
                  <a:t>NaN</a:t>
                </a:r>
                <a:r>
                  <a:rPr lang="pl-PL" dirty="0"/>
                  <a:t>).</a:t>
                </a:r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0AE9A1B-C6D2-E2F8-E02F-1C1E8286F7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724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9BEBD9-4C37-02E7-C25B-7634704A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Hipotezy badawcze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FD6D627-63DD-E818-808D-365610ED2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66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pl-PL" sz="2400" dirty="0"/>
          </a:p>
          <a:p>
            <a:pPr marL="0" indent="0">
              <a:buNone/>
            </a:pPr>
            <a:r>
              <a:rPr lang="pl-PL" sz="2400" b="1" dirty="0"/>
              <a:t>1. </a:t>
            </a:r>
            <a:r>
              <a:rPr lang="pl-PL" sz="2400" dirty="0"/>
              <a:t>Model </a:t>
            </a:r>
            <a:r>
              <a:rPr lang="pl-PL" sz="2400" dirty="0" err="1"/>
              <a:t>multi-task</a:t>
            </a:r>
            <a:r>
              <a:rPr lang="pl-PL" sz="2400" dirty="0"/>
              <a:t> osiąga lepszą średnią jakość predykcji (AUROC dla klasyfikacji, RMSE dla regresji) niż analogiczne modele single-</a:t>
            </a:r>
            <a:r>
              <a:rPr lang="pl-PL" sz="2400" dirty="0" err="1"/>
              <a:t>task</a:t>
            </a:r>
            <a:r>
              <a:rPr lang="pl-PL" sz="2400" dirty="0"/>
              <a:t>, szczególnie dla </a:t>
            </a:r>
            <a:r>
              <a:rPr lang="pl-PL" sz="2400" dirty="0" err="1"/>
              <a:t>endpointów</a:t>
            </a:r>
            <a:r>
              <a:rPr lang="pl-PL" sz="2400" dirty="0"/>
              <a:t> z małą liczbą danych treningowych.</a:t>
            </a:r>
          </a:p>
          <a:p>
            <a:pPr marL="0" indent="0">
              <a:buNone/>
            </a:pPr>
            <a:br>
              <a:rPr lang="pl-PL" sz="2400" dirty="0"/>
            </a:br>
            <a:r>
              <a:rPr lang="pl-PL" sz="2400" b="1" dirty="0"/>
              <a:t>2. </a:t>
            </a:r>
            <a:r>
              <a:rPr lang="pl-PL" sz="2400" dirty="0" err="1"/>
              <a:t>Endpointy</a:t>
            </a:r>
            <a:r>
              <a:rPr lang="pl-PL" sz="2400" dirty="0"/>
              <a:t> ADMET, które są ze sobą biologicznie powiązane (np. rozpuszczalność i Caco-2 </a:t>
            </a:r>
            <a:r>
              <a:rPr lang="pl-PL" sz="2400" dirty="0" err="1"/>
              <a:t>permeability</a:t>
            </a:r>
            <a:r>
              <a:rPr lang="pl-PL" sz="2400" dirty="0"/>
              <a:t>), korzystają z </a:t>
            </a:r>
            <a:r>
              <a:rPr lang="pl-PL" sz="2400" dirty="0" err="1"/>
              <a:t>multi-task</a:t>
            </a:r>
            <a:r>
              <a:rPr lang="pl-PL" sz="2400" dirty="0"/>
              <a:t> learning bardziej niż </a:t>
            </a:r>
            <a:r>
              <a:rPr lang="pl-PL" sz="2400" dirty="0" err="1"/>
              <a:t>endpointy</a:t>
            </a:r>
            <a:r>
              <a:rPr lang="pl-PL" sz="2400" dirty="0"/>
              <a:t> niepowiązane.</a:t>
            </a:r>
          </a:p>
          <a:p>
            <a:pPr marL="0" indent="0">
              <a:buNone/>
            </a:pPr>
            <a:br>
              <a:rPr lang="pl-PL" sz="2400" b="1" dirty="0"/>
            </a:br>
            <a:r>
              <a:rPr lang="pl-PL" sz="2400" b="1" dirty="0"/>
              <a:t>3. </a:t>
            </a:r>
            <a:r>
              <a:rPr lang="pl-PL" sz="2400" dirty="0"/>
              <a:t>Reprezentacje molekularne (</a:t>
            </a:r>
            <a:r>
              <a:rPr lang="pl-PL" sz="2400" dirty="0" err="1"/>
              <a:t>fingerprinty</a:t>
            </a:r>
            <a:r>
              <a:rPr lang="pl-PL" sz="2400" dirty="0"/>
              <a:t> vs. deskryptory vs. wyuczone </a:t>
            </a:r>
            <a:r>
              <a:rPr lang="pl-PL" sz="2400" dirty="0" err="1"/>
              <a:t>embeddingi</a:t>
            </a:r>
            <a:r>
              <a:rPr lang="pl-PL" sz="2400" dirty="0"/>
              <a:t>) mają istotny wpływ na jakość predykcji ADMET. Porównanie co najmniej dwóch typów reprezentacji.</a:t>
            </a:r>
            <a:br>
              <a:rPr lang="pl-PL" sz="2400" dirty="0"/>
            </a:br>
            <a:br>
              <a:rPr lang="pl-PL" sz="2400" dirty="0"/>
            </a:br>
            <a:endParaRPr lang="pl-PL" sz="2400" dirty="0"/>
          </a:p>
          <a:p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16400974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8A5156-5DC6-9538-6C89-F91EFABC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45429"/>
            <a:ext cx="10515600" cy="1325563"/>
          </a:xfrm>
        </p:spPr>
        <p:txBody>
          <a:bodyPr>
            <a:normAutofit/>
          </a:bodyPr>
          <a:lstStyle/>
          <a:p>
            <a:r>
              <a:rPr lang="pl-PL" sz="3200" b="1" dirty="0"/>
              <a:t>1. </a:t>
            </a:r>
            <a:r>
              <a:rPr lang="en-US" sz="3200" b="1" dirty="0"/>
              <a:t>Multi-Task Learning (MTL) vs Single-Task Learning (STL)</a:t>
            </a:r>
            <a:endParaRPr lang="pl-PL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41B83ED-3232-073E-757C-C49EF0B237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3426" y="1252330"/>
                <a:ext cx="10280373" cy="492463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l-PL" dirty="0"/>
                  <a:t>zadania ADMET są powiązane </a:t>
                </a:r>
              </a:p>
              <a:p>
                <a:r>
                  <a:rPr lang="pl-PL" dirty="0"/>
                  <a:t>model współdzieli reprezentację </a:t>
                </a:r>
              </a:p>
              <a:p>
                <a:r>
                  <a:rPr lang="pl-PL" dirty="0"/>
                  <a:t>następuje </a:t>
                </a:r>
                <a:r>
                  <a:rPr lang="pl-PL" b="1" dirty="0"/>
                  <a:t>transfer wiedzy</a:t>
                </a:r>
                <a:r>
                  <a:rPr lang="pl-PL" dirty="0"/>
                  <a:t> </a:t>
                </a:r>
              </a:p>
              <a:p>
                <a:pPr marL="0" indent="0">
                  <a:buNone/>
                </a:pPr>
                <a:endParaRPr lang="pl-PL" b="1" dirty="0"/>
              </a:p>
              <a:p>
                <a:pPr marL="0" indent="0">
                  <a:buNone/>
                </a:pPr>
                <a:r>
                  <a:rPr lang="pl-PL" b="1" dirty="0"/>
                  <a:t>Definicja modeli</a:t>
                </a:r>
              </a:p>
              <a:p>
                <a:pPr marL="0" indent="0">
                  <a:buNone/>
                </a:pPr>
                <a:endParaRPr lang="pl-PL" b="1" dirty="0"/>
              </a:p>
              <a:p>
                <a:r>
                  <a:rPr lang="pl-PL" b="1" dirty="0"/>
                  <a:t>STL:</a:t>
                </a:r>
                <a:endParaRPr lang="pl-P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𝑦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pl-PL" b="1" dirty="0"/>
              </a:p>
              <a:p>
                <a:r>
                  <a:rPr lang="pl-PL" b="1" dirty="0"/>
                  <a:t>MTL:</a:t>
                </a:r>
                <a:endParaRPr lang="pl-P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𝑦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h</m:t>
                              </m:r>
                            </m:e>
                            <m:sub>
                              <m:r>
                                <a:rPr lang="ar-AE" i="1"/>
                                <m:t>𝑠</m:t>
                              </m:r>
                              <m:r>
                                <a:rPr lang="ar-AE" i="1"/>
                                <m:t>h</m:t>
                              </m:r>
                              <m:r>
                                <a:rPr lang="ar-AE" i="1"/>
                                <m:t>𝑎𝑟𝑒𝑑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41B83ED-3232-073E-757C-C49EF0B23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3426" y="1252330"/>
                <a:ext cx="10280373" cy="4924634"/>
              </a:xfrm>
              <a:blipFill>
                <a:blip r:embed="rId2"/>
                <a:stretch>
                  <a:fillRect l="-1068" t="-30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911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C2317D-D9FB-63CC-16CE-3EB8FA0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METRYKI</a:t>
            </a:r>
            <a:r>
              <a:rPr lang="pl-PL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FD7A3EF-BD1B-A644-85D1-D9104AA38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0166" y="1600200"/>
                <a:ext cx="10515600" cy="48926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l-PL" b="1" dirty="0"/>
                  <a:t>Metryka (AUROC)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/>
                        <m:t>𝐴𝑈𝑅𝑂𝐶</m:t>
                      </m:r>
                      <m:r>
                        <a:rPr lang="pl-PL"/>
                        <m:t>=</m:t>
                      </m:r>
                      <m:r>
                        <a:rPr lang="pl-PL" i="1"/>
                        <m:t>𝑃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i="1"/>
                                  </m:ctrlPr>
                                </m:accPr>
                                <m:e>
                                  <m:r>
                                    <a:rPr lang="ar-AE" i="1"/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/>
                                <m:t>𝑝𝑜𝑠</m:t>
                              </m:r>
                            </m:sub>
                          </m:sSub>
                          <m:r>
                            <a:rPr lang="ar-AE"/>
                            <m:t>&gt;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i="1"/>
                                  </m:ctrlPr>
                                </m:accPr>
                                <m:e>
                                  <m:r>
                                    <a:rPr lang="ar-AE" i="1"/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/>
                                <m:t>𝑛𝑒𝑔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ar-AE" dirty="0"/>
                  <a:t>0.5 → </a:t>
                </a:r>
                <a:r>
                  <a:rPr lang="pl-PL" dirty="0"/>
                  <a:t>losowo </a:t>
                </a:r>
              </a:p>
              <a:p>
                <a:r>
                  <a:rPr lang="pl-PL" dirty="0"/>
                  <a:t>1.0 → idealnie</a:t>
                </a:r>
              </a:p>
              <a:p>
                <a:endParaRPr lang="pl-PL" dirty="0"/>
              </a:p>
              <a:p>
                <a:pPr marL="0" indent="0">
                  <a:buNone/>
                </a:pPr>
                <a:r>
                  <a:rPr lang="pl-PL" b="1" dirty="0" err="1"/>
                  <a:t>Gain</a:t>
                </a:r>
                <a:r>
                  <a:rPr lang="pl-PL" b="1" dirty="0"/>
                  <a:t> z MTL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/>
                            <m:t>Δ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𝐴𝑈𝑅𝑂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𝐶</m:t>
                          </m:r>
                        </m:e>
                        <m:sub>
                          <m:r>
                            <a:rPr lang="ar-AE" i="1"/>
                            <m:t>𝑀𝑇𝐿</m:t>
                          </m:r>
                          <m:r>
                            <a:rPr lang="ar-AE"/>
                            <m:t>,</m:t>
                          </m:r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−</m:t>
                      </m:r>
                      <m:r>
                        <a:rPr lang="ar-AE" i="1"/>
                        <m:t>𝐴𝑈𝑅𝑂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𝐶</m:t>
                          </m:r>
                        </m:e>
                        <m:sub>
                          <m:r>
                            <a:rPr lang="ar-AE" i="1"/>
                            <m:t>𝑆𝑇𝐿</m:t>
                          </m:r>
                          <m:r>
                            <a:rPr lang="ar-AE"/>
                            <m:t>,</m:t>
                          </m:r>
                          <m:r>
                            <a:rPr lang="ar-AE" i="1"/>
                            <m:t>𝑡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/>
                          <m:t>Δ</m:t>
                        </m:r>
                      </m:e>
                      <m:sub>
                        <m:r>
                          <a:rPr lang="ar-AE" i="1"/>
                          <m:t>𝑡</m:t>
                        </m:r>
                      </m:sub>
                    </m:sSub>
                    <m:r>
                      <a:rPr lang="ar-AE"/>
                      <m:t>&gt;</m:t>
                    </m:r>
                    <m:r>
                      <a:rPr lang="ar-AE"/>
                      <m:t>0</m:t>
                    </m:r>
                  </m:oMath>
                </a14:m>
                <a:r>
                  <a:rPr lang="ar-AE" dirty="0"/>
                  <a:t>→ </a:t>
                </a:r>
                <a:r>
                  <a:rPr lang="pl-PL" dirty="0"/>
                  <a:t>MTL lepszy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/>
                          <m:t>Δ</m:t>
                        </m:r>
                      </m:e>
                      <m:sub>
                        <m:r>
                          <a:rPr lang="ar-AE" i="1"/>
                          <m:t>𝑡</m:t>
                        </m:r>
                      </m:sub>
                    </m:sSub>
                    <m:r>
                      <a:rPr lang="ar-AE"/>
                      <m:t>&lt;</m:t>
                    </m:r>
                    <m:r>
                      <a:rPr lang="ar-AE"/>
                      <m:t>0</m:t>
                    </m:r>
                  </m:oMath>
                </a14:m>
                <a:r>
                  <a:rPr lang="ar-AE" dirty="0"/>
                  <a:t>→ </a:t>
                </a:r>
                <a:r>
                  <a:rPr lang="pl-PL" dirty="0"/>
                  <a:t>MTL gorszy</a:t>
                </a:r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FD7A3EF-BD1B-A644-85D1-D9104AA38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0166" y="1600200"/>
                <a:ext cx="10515600" cy="4892675"/>
              </a:xfrm>
              <a:blipFill>
                <a:blip r:embed="rId3"/>
                <a:stretch>
                  <a:fillRect l="-1217" t="-286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43448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85F511C-E4F9-FB3B-9C22-D962ED91E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TRENING</a:t>
            </a:r>
            <a:r>
              <a:rPr lang="pl-PL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SAMEGO GNN - LOSS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B3FDCBE-0E48-2583-9611-13253225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91" y="2065360"/>
            <a:ext cx="12050609" cy="400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782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C037E0B2-4A1D-343E-F81B-F575559FA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27198"/>
            <a:ext cx="10905066" cy="5452533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BC0E1D8-C5AB-0925-CDA9-2974E071EF71}"/>
              </a:ext>
            </a:extLst>
          </p:cNvPr>
          <p:cNvSpPr txBox="1"/>
          <p:nvPr/>
        </p:nvSpPr>
        <p:spPr>
          <a:xfrm>
            <a:off x="938436" y="380867"/>
            <a:ext cx="11253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600" b="1" dirty="0"/>
              <a:t>POROWNANIE MTL VS STL VS XGBOOST (tylko graf)</a:t>
            </a:r>
          </a:p>
        </p:txBody>
      </p:sp>
    </p:spTree>
    <p:extLst>
      <p:ext uri="{BB962C8B-B14F-4D97-AF65-F5344CB8AC3E}">
        <p14:creationId xmlns:p14="http://schemas.microsoft.com/office/powerpoint/2010/main" val="2444641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6E350D79-BA28-EC38-B45B-5FCCA49EA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5" y="566694"/>
            <a:ext cx="10905066" cy="5452533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5B920469-FC78-C8C8-6227-C99698825D05}"/>
              </a:ext>
            </a:extLst>
          </p:cNvPr>
          <p:cNvSpPr txBox="1"/>
          <p:nvPr/>
        </p:nvSpPr>
        <p:spPr>
          <a:xfrm>
            <a:off x="1084759" y="5903893"/>
            <a:ext cx="103567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1" dirty="0"/>
              <a:t>MTL wykorzystuje wspólną strukturę danych, co prowadzi do lepszej generalizacji niż STL</a:t>
            </a:r>
          </a:p>
        </p:txBody>
      </p:sp>
    </p:spTree>
    <p:extLst>
      <p:ext uri="{BB962C8B-B14F-4D97-AF65-F5344CB8AC3E}">
        <p14:creationId xmlns:p14="http://schemas.microsoft.com/office/powerpoint/2010/main" val="6030642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25E264-0640-9920-F7F7-9E674993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SKUTECZNOSC SAMEGO GIN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39EC3DA-5C44-2163-F7DA-8CE78A75E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W </a:t>
            </a:r>
            <a:r>
              <a:rPr lang="pl-PL" b="1" dirty="0" err="1"/>
              <a:t>endpointach</a:t>
            </a:r>
            <a:r>
              <a:rPr lang="pl-PL" dirty="0"/>
              <a:t> (np. </a:t>
            </a:r>
            <a:r>
              <a:rPr lang="pl-PL" dirty="0" err="1"/>
              <a:t>hERG</a:t>
            </a:r>
            <a:r>
              <a:rPr lang="pl-PL" dirty="0"/>
              <a:t>, DILI):</a:t>
            </a:r>
          </a:p>
          <a:p>
            <a:r>
              <a:rPr lang="pl-PL" dirty="0"/>
              <a:t>cechy wektorowe nie są spójne z reprezentacją grafową </a:t>
            </a:r>
          </a:p>
          <a:p>
            <a:r>
              <a:rPr lang="pl-PL" dirty="0"/>
              <a:t>model uczy się sprzecznych zależności </a:t>
            </a:r>
          </a:p>
          <a:p>
            <a:r>
              <a:rPr lang="pl-PL" dirty="0"/>
              <a:t>MTL zaczyna szkodzić zamiast pomagać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552465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C165FC5-470B-6F20-460C-1E8E5B06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TRENING </a:t>
            </a:r>
            <a:r>
              <a:rPr lang="pl-PL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GNN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+ RDKIT + MORGAN - LOSS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EE1A4C6-B9A7-85FE-CC9E-FABEBB3EC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039" y="2059359"/>
            <a:ext cx="11638961" cy="386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676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95D7160-923F-F6D8-6055-07CBD7951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25520"/>
            <a:ext cx="10905066" cy="545253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03B82077-2167-850B-650C-737912E2BA19}"/>
              </a:ext>
            </a:extLst>
          </p:cNvPr>
          <p:cNvSpPr txBox="1"/>
          <p:nvPr/>
        </p:nvSpPr>
        <p:spPr>
          <a:xfrm>
            <a:off x="1111045" y="279947"/>
            <a:ext cx="10746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b="1" dirty="0"/>
              <a:t>POROWNANIE MTL VS STL ( graf + </a:t>
            </a:r>
            <a:r>
              <a:rPr lang="pl-PL" sz="3600" b="1" dirty="0" err="1"/>
              <a:t>rdkit</a:t>
            </a:r>
            <a:r>
              <a:rPr lang="pl-PL" sz="3600" b="1" dirty="0"/>
              <a:t> + morgan )</a:t>
            </a:r>
          </a:p>
        </p:txBody>
      </p:sp>
    </p:spTree>
    <p:extLst>
      <p:ext uri="{BB962C8B-B14F-4D97-AF65-F5344CB8AC3E}">
        <p14:creationId xmlns:p14="http://schemas.microsoft.com/office/powerpoint/2010/main" val="10885607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BE54AE7-3458-0653-7BC5-91125CB70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68" r="-1" b="-1"/>
          <a:stretch>
            <a:fillRect/>
          </a:stretch>
        </p:blipFill>
        <p:spPr>
          <a:xfrm>
            <a:off x="843037" y="637566"/>
            <a:ext cx="10664952" cy="5390029"/>
          </a:xfrm>
          <a:prstGeom prst="rect">
            <a:avLst/>
          </a:prstGeom>
          <a:effectLst>
            <a:outerShdw blurRad="292100" dist="165100" dir="6000000" sx="97000" sy="97000" algn="t" rotWithShape="0">
              <a:prstClr val="black">
                <a:alpha val="3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65337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5C4829-2B56-BB23-B480-A6C3206E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SKUTECZNOSC GIN + MORGAN + RDKIT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15C5191-954D-1F13-3FB1-D7118DA27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591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Model osiąga wysoki </a:t>
            </a:r>
            <a:r>
              <a:rPr lang="pl-PL" dirty="0" err="1"/>
              <a:t>gain</a:t>
            </a:r>
            <a:r>
              <a:rPr lang="pl-PL" dirty="0"/>
              <a:t> dla większości </a:t>
            </a:r>
            <a:r>
              <a:rPr lang="pl-PL" dirty="0" err="1"/>
              <a:t>endpointów</a:t>
            </a:r>
            <a:r>
              <a:rPr lang="pl-PL" dirty="0"/>
              <a:t>.</a:t>
            </a:r>
            <a:br>
              <a:rPr lang="pl-PL" dirty="0"/>
            </a:br>
            <a:r>
              <a:rPr lang="pl-PL" dirty="0"/>
              <a:t>Największe zyski w zadaniach powiązanych (CYP, BBB).</a:t>
            </a:r>
            <a:br>
              <a:rPr lang="pl-PL" dirty="0"/>
            </a:br>
            <a:r>
              <a:rPr lang="pl-PL" dirty="0"/>
              <a:t>Jednocześnie pojawiają się </a:t>
            </a:r>
            <a:r>
              <a:rPr lang="pl-PL" dirty="0" err="1"/>
              <a:t>male</a:t>
            </a:r>
            <a:r>
              <a:rPr lang="pl-PL" dirty="0"/>
              <a:t> spadki (</a:t>
            </a:r>
            <a:r>
              <a:rPr lang="pl-PL" dirty="0" err="1"/>
              <a:t>hERG</a:t>
            </a:r>
            <a:r>
              <a:rPr lang="pl-PL" dirty="0"/>
              <a:t>, DILI).</a:t>
            </a:r>
            <a:br>
              <a:rPr lang="pl-PL" dirty="0"/>
            </a:b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115863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157BB0-1159-4694-8B85-A1561890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Wnioski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A719CFE-6F0F-998B-6465-9AF8A6830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b="1" dirty="0"/>
          </a:p>
          <a:p>
            <a:r>
              <a:rPr lang="pl-PL" dirty="0"/>
              <a:t>więcej cech to nie zawsze znaczy lepiej</a:t>
            </a:r>
            <a:br>
              <a:rPr lang="pl-PL" dirty="0"/>
            </a:br>
            <a:r>
              <a:rPr lang="pl-PL" dirty="0" err="1"/>
              <a:t>jeślicechy</a:t>
            </a:r>
            <a:r>
              <a:rPr lang="pl-PL" dirty="0"/>
              <a:t>  są słabo powiązane z </a:t>
            </a:r>
            <a:r>
              <a:rPr lang="pl-PL" dirty="0" err="1"/>
              <a:t>taskiem</a:t>
            </a:r>
            <a:r>
              <a:rPr lang="pl-PL" dirty="0"/>
              <a:t> → degradacja wyniku</a:t>
            </a:r>
          </a:p>
          <a:p>
            <a:endParaRPr lang="pl-PL" b="1" dirty="0"/>
          </a:p>
          <a:p>
            <a:r>
              <a:rPr lang="pl-PL" b="1" dirty="0"/>
              <a:t>Duża liczba cech to  większe ryzyko </a:t>
            </a:r>
            <a:r>
              <a:rPr lang="pl-PL" b="1" dirty="0" err="1"/>
              <a:t>negative</a:t>
            </a:r>
            <a:r>
              <a:rPr lang="pl-PL" b="1" dirty="0"/>
              <a:t> transfer oraz szumu</a:t>
            </a:r>
            <a:br>
              <a:rPr lang="pl-PL" dirty="0"/>
            </a:b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96065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4933F0-FA18-D825-D27D-6BE01B16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2. czy korelacja daje zysk MTL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F4CD0259-C0A2-F0AF-DCF3-56F5BC3098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l-PL" b="1" dirty="0"/>
                  <a:t>1. Oś X – średnia korelacja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𝜌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/>
                            <m:t>1</m:t>
                          </m:r>
                        </m:num>
                        <m:den>
                          <m:r>
                            <a:rPr lang="ar-AE" i="1"/>
                            <m:t>𝑇</m:t>
                          </m:r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/>
                          </m:ctrlPr>
                        </m:naryPr>
                        <m:sub>
                          <m:r>
                            <a:rPr lang="ar-AE" i="1"/>
                            <m:t>𝑗</m:t>
                          </m:r>
                          <m:r>
                            <a:rPr lang="ar-AE"/>
                            <m:t>≠</m:t>
                          </m:r>
                          <m:r>
                            <a:rPr lang="ar-AE" i="1"/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𝜌</m:t>
                              </m:r>
                            </m:e>
                            <m:sub>
                              <m:r>
                                <a:rPr lang="ar-AE" i="1"/>
                                <m:t>𝑡𝑗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r>
                  <a:rPr lang="ar-AE" dirty="0"/>
                  <a:t>→ </a:t>
                </a:r>
                <a:r>
                  <a:rPr lang="pl-PL" dirty="0"/>
                  <a:t>jak bardzo dany </a:t>
                </a:r>
                <a:r>
                  <a:rPr lang="pl-PL" dirty="0" err="1"/>
                  <a:t>task</a:t>
                </a:r>
                <a:r>
                  <a:rPr lang="pl-PL" dirty="0"/>
                  <a:t> jest </a:t>
                </a:r>
                <a:r>
                  <a:rPr lang="pl-PL" b="1" dirty="0"/>
                  <a:t>powiązany z innymi</a:t>
                </a:r>
              </a:p>
              <a:p>
                <a:endParaRPr lang="pl-PL" dirty="0"/>
              </a:p>
              <a:p>
                <a:endParaRPr lang="pl-PL" dirty="0"/>
              </a:p>
              <a:p>
                <a:pPr marL="0" indent="0">
                  <a:buNone/>
                </a:pPr>
                <a:r>
                  <a:rPr lang="pl-PL" b="1" dirty="0"/>
                  <a:t>2. Oś Y – </a:t>
                </a:r>
                <a:r>
                  <a:rPr lang="pl-PL" b="1" dirty="0" err="1"/>
                  <a:t>gain</a:t>
                </a:r>
                <a:r>
                  <a:rPr lang="pl-PL" b="1" dirty="0"/>
                  <a:t> z MTL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/>
                            <m:t>Δ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𝐴𝑈𝑅𝑂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𝐶</m:t>
                          </m:r>
                        </m:e>
                        <m:sub>
                          <m:r>
                            <a:rPr lang="ar-AE" i="1"/>
                            <m:t>𝑀𝑇𝐿</m:t>
                          </m:r>
                          <m:r>
                            <a:rPr lang="ar-AE"/>
                            <m:t>,</m:t>
                          </m:r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−</m:t>
                      </m:r>
                      <m:r>
                        <a:rPr lang="ar-AE" i="1"/>
                        <m:t>𝐴𝑈𝑅𝑂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𝐶</m:t>
                          </m:r>
                        </m:e>
                        <m:sub>
                          <m:r>
                            <a:rPr lang="ar-AE" i="1"/>
                            <m:t>𝑆𝑇𝐿</m:t>
                          </m:r>
                          <m:r>
                            <a:rPr lang="ar-AE"/>
                            <m:t>,</m:t>
                          </m:r>
                          <m:r>
                            <a:rPr lang="ar-AE" i="1"/>
                            <m:t>𝑡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r>
                  <a:rPr lang="ar-AE" dirty="0"/>
                  <a:t>→ </a:t>
                </a:r>
                <a:r>
                  <a:rPr lang="pl-PL" dirty="0"/>
                  <a:t>ile </a:t>
                </a:r>
                <a:r>
                  <a:rPr lang="pl-PL" b="1" dirty="0"/>
                  <a:t>zyskałeś dzięki </a:t>
                </a:r>
                <a:r>
                  <a:rPr lang="pl-PL" b="1" dirty="0" err="1"/>
                  <a:t>multi-task</a:t>
                </a:r>
                <a:r>
                  <a:rPr lang="pl-PL" b="1" dirty="0"/>
                  <a:t> learning</a:t>
                </a:r>
                <a:endParaRPr lang="pl-PL" dirty="0"/>
              </a:p>
              <a:p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F4CD0259-C0A2-F0AF-DCF3-56F5BC3098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5" t="-30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8623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F87A50-4E76-4669-C098-CFE22019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WYKRESY KORELACJA VS MTL GAIN</a:t>
            </a:r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C0DA52B3-5E23-FD19-F991-DB7E4F279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/>
              <a:t>1. </a:t>
            </a:r>
            <a:r>
              <a:rPr lang="pl-PL" dirty="0"/>
              <a:t>WYKRES DLA SIECI HYBRYDOWEJ GNN + RDKIT + MORGAN</a:t>
            </a:r>
          </a:p>
          <a:p>
            <a:pPr marL="0" indent="0">
              <a:buNone/>
            </a:pPr>
            <a:r>
              <a:rPr lang="pl-PL" b="1" dirty="0"/>
              <a:t>2. </a:t>
            </a:r>
            <a:r>
              <a:rPr lang="pl-PL" dirty="0"/>
              <a:t>WYKRES DLA  SAMEGO GNN</a:t>
            </a:r>
          </a:p>
        </p:txBody>
      </p:sp>
    </p:spTree>
    <p:extLst>
      <p:ext uri="{BB962C8B-B14F-4D97-AF65-F5344CB8AC3E}">
        <p14:creationId xmlns:p14="http://schemas.microsoft.com/office/powerpoint/2010/main" val="8689583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A289E77-A654-7C71-2D75-CEFE1AAB3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082" y="162295"/>
            <a:ext cx="7603784" cy="6533409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4779C21E-292B-6203-D150-EC30A6B3300C}"/>
              </a:ext>
            </a:extLst>
          </p:cNvPr>
          <p:cNvSpPr txBox="1"/>
          <p:nvPr/>
        </p:nvSpPr>
        <p:spPr>
          <a:xfrm>
            <a:off x="8045218" y="289680"/>
            <a:ext cx="3664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2400" b="1" dirty="0"/>
              <a:t>Trend</a:t>
            </a:r>
          </a:p>
          <a:p>
            <a:r>
              <a:rPr lang="pl-PL" sz="2400" dirty="0"/>
              <a:t>linia regresji: </a:t>
            </a:r>
            <a:r>
              <a:rPr lang="pl-PL" sz="2400" b="1" dirty="0"/>
              <a:t>wyraźnie rosnąca</a:t>
            </a:r>
            <a:r>
              <a:rPr lang="pl-PL" sz="2400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64E365A-6DEF-AD3F-7E6E-481F9AE49D8D}"/>
                  </a:ext>
                </a:extLst>
              </p:cNvPr>
              <p:cNvSpPr txBox="1"/>
              <p:nvPr/>
            </p:nvSpPr>
            <p:spPr>
              <a:xfrm>
                <a:off x="8045218" y="2325413"/>
                <a:ext cx="39257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pl-PL" sz="2400" b="1" dirty="0"/>
                  <a:t> im większa korelacja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ar-AE" sz="2400" b="1" dirty="0"/>
                  <a:t>→ </a:t>
                </a:r>
                <a:r>
                  <a:rPr lang="pl-PL" sz="2400" b="1" dirty="0"/>
                  <a:t>tym większy </a:t>
                </a:r>
                <a:r>
                  <a:rPr lang="pl-PL" sz="2400" b="1" dirty="0" err="1"/>
                  <a:t>gain</a:t>
                </a:r>
                <a:r>
                  <a:rPr lang="pl-PL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1" i="1">
                            <a:latin typeface="Cambria Math" panose="02040503050406030204" pitchFamily="18" charset="0"/>
                          </a:rPr>
                          <m:t>𝜟</m:t>
                        </m:r>
                      </m:e>
                      <m:sub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ar-AE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2400" dirty="0"/>
                  <a:t>prawa strona → dodatni </a:t>
                </a:r>
                <a:r>
                  <a:rPr lang="pl-PL" sz="2400" dirty="0" err="1"/>
                  <a:t>gain</a:t>
                </a:r>
                <a:r>
                  <a:rPr lang="pl-PL" sz="24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2400" dirty="0"/>
                  <a:t>lewa strona → ujemny </a:t>
                </a:r>
                <a:r>
                  <a:rPr lang="pl-PL" sz="2400" dirty="0" err="1"/>
                  <a:t>gain</a:t>
                </a:r>
                <a:endParaRPr lang="pl-PL" sz="2400" dirty="0"/>
              </a:p>
            </p:txBody>
          </p:sp>
        </mc:Choice>
        <mc:Fallback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64E365A-6DEF-AD3F-7E6E-481F9AE49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218" y="2325413"/>
                <a:ext cx="3925700" cy="1569660"/>
              </a:xfrm>
              <a:prstGeom prst="rect">
                <a:avLst/>
              </a:prstGeom>
              <a:blipFill>
                <a:blip r:embed="rId3"/>
                <a:stretch>
                  <a:fillRect l="-2484" t="-3101" r="-2329" b="-77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266D1CD-39F8-2A40-96A2-8E16C2FF8C36}"/>
              </a:ext>
            </a:extLst>
          </p:cNvPr>
          <p:cNvSpPr txBox="1"/>
          <p:nvPr/>
        </p:nvSpPr>
        <p:spPr>
          <a:xfrm>
            <a:off x="8045218" y="4353574"/>
            <a:ext cx="335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/>
              <a:t>Dodanie deskryptorów stabilizuje i wzmacnia efekt MTL.</a:t>
            </a:r>
          </a:p>
        </p:txBody>
      </p:sp>
    </p:spTree>
    <p:extLst>
      <p:ext uri="{BB962C8B-B14F-4D97-AF65-F5344CB8AC3E}">
        <p14:creationId xmlns:p14="http://schemas.microsoft.com/office/powerpoint/2010/main" val="37566511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2FC85405-AAC0-636F-D5D7-9FE673B96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74" y="315471"/>
            <a:ext cx="7283107" cy="622705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C64071B8-CADB-00A0-E129-2ABE0B11FEE5}"/>
              </a:ext>
            </a:extLst>
          </p:cNvPr>
          <p:cNvSpPr txBox="1"/>
          <p:nvPr/>
        </p:nvSpPr>
        <p:spPr>
          <a:xfrm>
            <a:off x="8124496" y="2090172"/>
            <a:ext cx="34158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dirty="0"/>
              <a:t>Zysk z MTL rośnie wraz z korelacją zadań, ale efekt jest ograniczony i nie obejmuje wszystkich </a:t>
            </a:r>
            <a:r>
              <a:rPr lang="pl-PL" sz="2800" dirty="0" err="1"/>
              <a:t>endpointów</a:t>
            </a:r>
            <a:endParaRPr lang="pl-PL" sz="2800" b="1" dirty="0"/>
          </a:p>
        </p:txBody>
      </p:sp>
    </p:spTree>
    <p:extLst>
      <p:ext uri="{BB962C8B-B14F-4D97-AF65-F5344CB8AC3E}">
        <p14:creationId xmlns:p14="http://schemas.microsoft.com/office/powerpoint/2010/main" val="20097370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F68C6A-C7E4-EE0C-0B80-8239B412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Wniosek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83CCFAB-8450-DDCA-4CC9-F4AE80991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l-PL" dirty="0"/>
                  <a:t>Wyniki pokazują silną </a:t>
                </a:r>
                <a:r>
                  <a:rPr lang="pl-PL" b="1" dirty="0"/>
                  <a:t>dodatnią zależność </a:t>
                </a:r>
                <a:r>
                  <a:rPr lang="pl-PL" dirty="0"/>
                  <a:t>między </a:t>
                </a:r>
                <a:r>
                  <a:rPr lang="pl-PL" b="1" dirty="0"/>
                  <a:t>korelacją zadań </a:t>
                </a:r>
                <a:r>
                  <a:rPr lang="pl-PL" dirty="0"/>
                  <a:t>a </a:t>
                </a:r>
                <a:r>
                  <a:rPr lang="pl-PL" b="1" dirty="0"/>
                  <a:t>zyskiem z </a:t>
                </a:r>
                <a:r>
                  <a:rPr lang="pl-PL" b="1" dirty="0" err="1"/>
                  <a:t>multi-task</a:t>
                </a:r>
                <a:r>
                  <a:rPr lang="pl-PL" b="1" dirty="0"/>
                  <a:t> learning</a:t>
                </a:r>
                <a:r>
                  <a:rPr lang="pl-PL" dirty="0"/>
                  <a:t>. </a:t>
                </a:r>
              </a:p>
              <a:p>
                <a:pPr marL="0" indent="0">
                  <a:buNone/>
                </a:pPr>
                <a:r>
                  <a:rPr lang="pl-PL" dirty="0" err="1"/>
                  <a:t>Taski</a:t>
                </a:r>
                <a:r>
                  <a:rPr lang="pl-PL" dirty="0"/>
                  <a:t> metaboliczne, które są biologicznie powiązane, znacząco korzystają z MTL, podczas gdy zadania toksykologiczne wykazują spadek wydajności ze względu na konflikty gradientów.”</a:t>
                </a:r>
              </a:p>
              <a:p>
                <a:pPr marL="0" indent="0">
                  <a:buNone/>
                </a:pPr>
                <a:endParaRPr lang="pl-PL" dirty="0"/>
              </a:p>
              <a:p>
                <a:r>
                  <a:rPr lang="pl-PL" dirty="0"/>
                  <a:t>Dla złych </a:t>
                </a:r>
                <a:r>
                  <a:rPr lang="pl-PL" dirty="0" err="1"/>
                  <a:t>tasków</a:t>
                </a:r>
                <a:r>
                  <a:rPr lang="pl-PL" dirty="0"/>
                  <a:t> </a:t>
                </a:r>
                <a:r>
                  <a:rPr lang="pl-PL" b="1" dirty="0"/>
                  <a:t>i</a:t>
                </a:r>
                <a:r>
                  <a:rPr lang="pl-PL" dirty="0"/>
                  <a:t> oraz</a:t>
                </a:r>
                <a:r>
                  <a:rPr lang="pl-PL" b="1" dirty="0"/>
                  <a:t> j </a:t>
                </a:r>
                <a:r>
                  <a:rPr lang="pl-PL" dirty="0"/>
                  <a:t>:</a:t>
                </a:r>
              </a:p>
              <a:p>
                <a:endParaRPr lang="pl-P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/>
                        <m:t>∇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𝐿</m:t>
                          </m:r>
                        </m:e>
                        <m:sub>
                          <m:r>
                            <a:rPr lang="ar-AE" i="1"/>
                            <m:t>𝑖</m:t>
                          </m:r>
                        </m:sub>
                      </m:sSub>
                      <m:r>
                        <a:rPr lang="ar-AE"/>
                        <m:t>⋅</m:t>
                      </m:r>
                      <m:r>
                        <m:rPr>
                          <m:sty m:val="p"/>
                        </m:rPr>
                        <a:rPr lang="ar-AE"/>
                        <m:t>∇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𝐿</m:t>
                          </m:r>
                        </m:e>
                        <m:sub>
                          <m:r>
                            <a:rPr lang="ar-AE" i="1"/>
                            <m:t>𝑗</m:t>
                          </m:r>
                        </m:sub>
                      </m:sSub>
                      <m:r>
                        <a:rPr lang="ar-AE"/>
                        <m:t>&lt;</m:t>
                      </m:r>
                      <m:r>
                        <a:rPr lang="ar-AE"/>
                        <m:t>0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83CCFAB-8450-DDCA-4CC9-F4AE80991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10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2731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379CB2-76F4-24B8-DE25-447D3F14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37843" cy="1325563"/>
          </a:xfrm>
        </p:spPr>
        <p:txBody>
          <a:bodyPr>
            <a:normAutofit/>
          </a:bodyPr>
          <a:lstStyle/>
          <a:p>
            <a:r>
              <a:rPr lang="pl-PL" sz="4000" b="1" dirty="0" err="1"/>
              <a:t>Intepretacja</a:t>
            </a:r>
            <a:r>
              <a:rPr lang="pl-PL" sz="4000" b="1" dirty="0"/>
              <a:t> </a:t>
            </a:r>
            <a:r>
              <a:rPr lang="pl-PL" sz="4000" b="1" dirty="0" err="1"/>
              <a:t>wplywu</a:t>
            </a:r>
            <a:r>
              <a:rPr lang="pl-PL" sz="4000" b="1" dirty="0"/>
              <a:t> typu wejść na wynik AUROC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457846-B01F-3FBC-48F2-540F01DB5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Graf sam daje najlepszy wynik (~0.904), a dodanie </a:t>
            </a:r>
            <a:r>
              <a:rPr lang="pl-PL" dirty="0" err="1"/>
              <a:t>RDKit</a:t>
            </a:r>
            <a:r>
              <a:rPr lang="pl-PL" dirty="0"/>
              <a:t> i Morgan nie poprawia go istotnie.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/>
              <a:t>Same deskryptory (szczególnie </a:t>
            </a:r>
            <a:r>
              <a:rPr lang="pl-PL" dirty="0" err="1"/>
              <a:t>RDKit</a:t>
            </a:r>
            <a:r>
              <a:rPr lang="pl-PL" dirty="0"/>
              <a:t>) są wyraźnie słabsze , a sam graf niesie kluczową informację.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957162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0BF3388-7C54-FC4E-FC7A-F6DA57D34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968" y="643466"/>
            <a:ext cx="956406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365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EEC1B2-7B51-8E92-84E9-ABA3077B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793" y="-76309"/>
            <a:ext cx="10515600" cy="1325563"/>
          </a:xfrm>
        </p:spPr>
        <p:txBody>
          <a:bodyPr/>
          <a:lstStyle/>
          <a:p>
            <a:r>
              <a:rPr lang="pl-PL" b="1" dirty="0"/>
              <a:t>MTL VS STL DLA INNEGO DATASETU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064704-2DB0-7A5E-274B-51BF77FB5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179" y="982718"/>
            <a:ext cx="10880834" cy="5875282"/>
          </a:xfrm>
        </p:spPr>
        <p:txBody>
          <a:bodyPr>
            <a:noAutofit/>
          </a:bodyPr>
          <a:lstStyle/>
          <a:p>
            <a:r>
              <a:rPr lang="pl-PL" sz="2600" b="1" dirty="0"/>
              <a:t># --- ADME </a:t>
            </a:r>
            <a:r>
              <a:rPr lang="pl-PL" sz="2600" b="1" dirty="0" err="1"/>
              <a:t>Classification</a:t>
            </a:r>
            <a:r>
              <a:rPr lang="pl-PL" sz="2600" b="1" dirty="0"/>
              <a:t> ---</a:t>
            </a:r>
            <a:br>
              <a:rPr lang="pl-PL" sz="2600" dirty="0"/>
            </a:br>
            <a:r>
              <a:rPr lang="pl-PL" sz="2600" dirty="0"/>
              <a:t>'</a:t>
            </a:r>
            <a:r>
              <a:rPr lang="pl-PL" sz="2600" dirty="0" err="1"/>
              <a:t>hia_hou</a:t>
            </a:r>
            <a:r>
              <a:rPr lang="pl-PL" sz="2600" dirty="0"/>
              <a:t>',  # Wchłanianie jelitowe</a:t>
            </a:r>
            <a:br>
              <a:rPr lang="pl-PL" sz="2600" dirty="0"/>
            </a:br>
            <a:r>
              <a:rPr lang="pl-PL" sz="2600" dirty="0"/>
              <a:t>'</a:t>
            </a:r>
            <a:r>
              <a:rPr lang="pl-PL" sz="2600" dirty="0" err="1"/>
              <a:t>pgp_broccatelli</a:t>
            </a:r>
            <a:r>
              <a:rPr lang="pl-PL" sz="2600" dirty="0"/>
              <a:t>',  # P-glikoproteina (transporter)</a:t>
            </a:r>
            <a:br>
              <a:rPr lang="pl-PL" sz="2600" dirty="0"/>
            </a:br>
            <a:r>
              <a:rPr lang="pl-PL" sz="2600" dirty="0"/>
              <a:t>'</a:t>
            </a:r>
            <a:r>
              <a:rPr lang="pl-PL" sz="2600" dirty="0" err="1"/>
              <a:t>bbb_martins</a:t>
            </a:r>
            <a:r>
              <a:rPr lang="pl-PL" sz="2600" dirty="0"/>
              <a:t>',  # Bariera krew-mózg</a:t>
            </a:r>
            <a:br>
              <a:rPr lang="pl-PL" sz="2600" dirty="0"/>
            </a:br>
            <a:r>
              <a:rPr lang="pl-PL" sz="2600" dirty="0"/>
              <a:t>'cyp2c19_veith',  # Metabolizm (enzymy)</a:t>
            </a:r>
            <a:br>
              <a:rPr lang="pl-PL" sz="2600" dirty="0"/>
            </a:br>
            <a:r>
              <a:rPr lang="pl-PL" sz="2600" dirty="0"/>
              <a:t>'cyp2d6_veith',</a:t>
            </a:r>
            <a:br>
              <a:rPr lang="pl-PL" sz="2600" dirty="0"/>
            </a:br>
            <a:r>
              <a:rPr lang="pl-PL" sz="2600" dirty="0"/>
              <a:t>'cyp3a4_veith',</a:t>
            </a:r>
            <a:br>
              <a:rPr lang="pl-PL" sz="2600" dirty="0"/>
            </a:br>
            <a:r>
              <a:rPr lang="pl-PL" sz="2600" dirty="0"/>
              <a:t>'cyp1a2_veith',</a:t>
            </a:r>
            <a:br>
              <a:rPr lang="pl-PL" sz="2600" dirty="0"/>
            </a:br>
            <a:r>
              <a:rPr lang="pl-PL" sz="2600" dirty="0"/>
              <a:t>'cyp2c9_veith’,</a:t>
            </a:r>
            <a:br>
              <a:rPr lang="pl-PL" sz="2600" dirty="0"/>
            </a:br>
            <a:br>
              <a:rPr lang="pl-PL" sz="2600" dirty="0"/>
            </a:br>
            <a:r>
              <a:rPr lang="pl-PL" sz="2600" b="1" dirty="0"/>
              <a:t># --- </a:t>
            </a:r>
            <a:r>
              <a:rPr lang="pl-PL" sz="2600" b="1" dirty="0" err="1"/>
              <a:t>Toxicity</a:t>
            </a:r>
            <a:r>
              <a:rPr lang="pl-PL" sz="2600" b="1" dirty="0"/>
              <a:t> </a:t>
            </a:r>
            <a:r>
              <a:rPr lang="pl-PL" sz="2600" b="1" dirty="0" err="1"/>
              <a:t>Classification</a:t>
            </a:r>
            <a:r>
              <a:rPr lang="pl-PL" sz="2600" b="1" dirty="0"/>
              <a:t> ---</a:t>
            </a:r>
            <a:br>
              <a:rPr lang="pl-PL" sz="2600" dirty="0"/>
            </a:br>
            <a:r>
              <a:rPr lang="pl-PL" sz="2600" dirty="0"/>
              <a:t>'</a:t>
            </a:r>
            <a:r>
              <a:rPr lang="pl-PL" sz="2600" dirty="0" err="1"/>
              <a:t>herg</a:t>
            </a:r>
            <a:r>
              <a:rPr lang="pl-PL" sz="2600" dirty="0"/>
              <a:t>',  # </a:t>
            </a:r>
            <a:r>
              <a:rPr lang="pl-PL" sz="2600" dirty="0" err="1"/>
              <a:t>Kardiotoksyczność</a:t>
            </a:r>
            <a:br>
              <a:rPr lang="pl-PL" sz="2600" dirty="0"/>
            </a:br>
            <a:r>
              <a:rPr lang="pl-PL" sz="2600" dirty="0"/>
              <a:t>'</a:t>
            </a:r>
            <a:r>
              <a:rPr lang="pl-PL" sz="2600" dirty="0" err="1"/>
              <a:t>dili</a:t>
            </a:r>
            <a:r>
              <a:rPr lang="pl-PL" sz="2600" dirty="0"/>
              <a:t>',  # Toksyczność wątroby</a:t>
            </a:r>
            <a:br>
              <a:rPr lang="pl-PL" sz="2600" dirty="0"/>
            </a:br>
            <a:r>
              <a:rPr lang="pl-PL" sz="2600" dirty="0"/>
              <a:t>'</a:t>
            </a:r>
            <a:r>
              <a:rPr lang="pl-PL" sz="2600" dirty="0" err="1"/>
              <a:t>skin_reaction</a:t>
            </a:r>
            <a:r>
              <a:rPr lang="pl-PL" sz="2600" dirty="0"/>
              <a:t>',  # Reakcje skórne</a:t>
            </a:r>
            <a:br>
              <a:rPr lang="pl-PL" sz="2600" dirty="0"/>
            </a:br>
            <a:r>
              <a:rPr lang="pl-PL" sz="2600" dirty="0"/>
              <a:t>'</a:t>
            </a:r>
            <a:r>
              <a:rPr lang="pl-PL" sz="2600" dirty="0" err="1"/>
              <a:t>ames</a:t>
            </a:r>
            <a:r>
              <a:rPr lang="pl-PL" sz="2600" dirty="0"/>
              <a:t>',  # Mutagenność</a:t>
            </a:r>
            <a:br>
              <a:rPr lang="pl-PL" sz="2600" dirty="0"/>
            </a:br>
            <a:r>
              <a:rPr lang="pl-PL" sz="2600" dirty="0"/>
              <a:t>'</a:t>
            </a:r>
            <a:r>
              <a:rPr lang="pl-PL" sz="2600" dirty="0" err="1"/>
              <a:t>clintox</a:t>
            </a:r>
            <a:r>
              <a:rPr lang="pl-PL" sz="2600" dirty="0"/>
              <a:t>'  # Toksyczność kliniczna</a:t>
            </a:r>
            <a:br>
              <a:rPr lang="pl-PL" sz="2600" dirty="0"/>
            </a:br>
            <a:endParaRPr lang="pl-PL" sz="2600" dirty="0"/>
          </a:p>
          <a:p>
            <a:endParaRPr lang="pl-PL" sz="2600" dirty="0"/>
          </a:p>
        </p:txBody>
      </p:sp>
    </p:spTree>
    <p:extLst>
      <p:ext uri="{BB962C8B-B14F-4D97-AF65-F5344CB8AC3E}">
        <p14:creationId xmlns:p14="http://schemas.microsoft.com/office/powerpoint/2010/main" val="8858545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07B49A-4C49-C64D-338E-078006DD0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pl-PL" b="1" dirty="0" err="1"/>
              <a:t>Quick</a:t>
            </a:r>
            <a:r>
              <a:rPr lang="pl-PL" b="1" dirty="0"/>
              <a:t> Data </a:t>
            </a:r>
            <a:r>
              <a:rPr lang="pl-PL" b="1" dirty="0" err="1"/>
              <a:t>Stats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10F9618-FCBB-6CC4-A737-BDEF1DB9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1380"/>
            <a:ext cx="10724535" cy="55552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SPLIT SIZES </a:t>
            </a:r>
          </a:p>
          <a:p>
            <a:r>
              <a:rPr lang="en-US" dirty="0"/>
              <a:t>Train: 24799</a:t>
            </a:r>
          </a:p>
          <a:p>
            <a:r>
              <a:rPr lang="en-US" dirty="0"/>
              <a:t>Valid: 6755</a:t>
            </a:r>
          </a:p>
          <a:p>
            <a:r>
              <a:rPr lang="en-US" dirty="0"/>
              <a:t>Test : 11880</a:t>
            </a:r>
            <a:endParaRPr lang="pl-PL" dirty="0"/>
          </a:p>
          <a:p>
            <a:endParaRPr lang="pl-PL" dirty="0"/>
          </a:p>
          <a:p>
            <a:pPr marL="0" indent="0">
              <a:buNone/>
            </a:pPr>
            <a:r>
              <a:rPr lang="pl-PL" b="1" dirty="0"/>
              <a:t>DATA LEAKAGE CHECK</a:t>
            </a:r>
          </a:p>
          <a:p>
            <a:r>
              <a:rPr lang="pl-PL" dirty="0"/>
              <a:t>Train ∩ Val: 0</a:t>
            </a:r>
          </a:p>
          <a:p>
            <a:r>
              <a:rPr lang="pl-PL" dirty="0"/>
              <a:t>Train ∩ Test: 0</a:t>
            </a:r>
          </a:p>
          <a:p>
            <a:r>
              <a:rPr lang="pl-PL" dirty="0"/>
              <a:t>Val   ∩ Test: 0</a:t>
            </a:r>
          </a:p>
          <a:p>
            <a:endParaRPr lang="pl-PL" dirty="0"/>
          </a:p>
          <a:p>
            <a:pPr marL="0" indent="0">
              <a:buNone/>
            </a:pPr>
            <a:r>
              <a:rPr lang="en-US" b="1" dirty="0"/>
              <a:t>TASK COVERAGE </a:t>
            </a:r>
          </a:p>
          <a:p>
            <a:r>
              <a:rPr lang="en-US" dirty="0"/>
              <a:t>Avg labels per sample: 2.17/13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739046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E464A6-8063-D054-A5B9-642EC051C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148" y="-159531"/>
            <a:ext cx="10515600" cy="1325563"/>
          </a:xfrm>
        </p:spPr>
        <p:txBody>
          <a:bodyPr/>
          <a:lstStyle/>
          <a:p>
            <a:r>
              <a:rPr lang="pl-PL" b="1" dirty="0"/>
              <a:t>Data </a:t>
            </a:r>
            <a:r>
              <a:rPr lang="pl-PL" b="1" dirty="0" err="1"/>
              <a:t>sparsity</a:t>
            </a:r>
            <a:r>
              <a:rPr lang="pl-PL" b="1" dirty="0"/>
              <a:t> dla 13 </a:t>
            </a:r>
            <a:r>
              <a:rPr lang="pl-PL" b="1" dirty="0" err="1"/>
              <a:t>endpoints</a:t>
            </a:r>
            <a:endParaRPr lang="pl-PL" b="1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0751D49-05AC-4A8A-6CF4-FC68CD6F1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438" y="712815"/>
            <a:ext cx="9941124" cy="596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310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20183B4-1887-AD8C-F42B-DA45AEADD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691313"/>
            <a:ext cx="10905066" cy="436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638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D768B77-8742-43A0-AF16-6AC4D378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8B13CA8-CBEA-4805-955D-CEBE32236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17490" cy="5486399"/>
          </a:xfrm>
          <a:prstGeom prst="rect">
            <a:avLst/>
          </a:prstGeom>
          <a:ln>
            <a:noFill/>
          </a:ln>
          <a:effectLst>
            <a:outerShdw blurRad="393700" dist="127000" dir="5400000" sx="95000" sy="95000" algn="t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A64D662-F590-90D2-3C77-88EAF7D0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806" y="2132709"/>
            <a:ext cx="2718766" cy="180970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b="1" dirty="0" err="1"/>
              <a:t>Korelacje</a:t>
            </a:r>
            <a:r>
              <a:rPr lang="pl-PL" sz="4000" b="1" dirty="0"/>
              <a:t> miedzy </a:t>
            </a:r>
            <a:r>
              <a:rPr lang="pl-PL" sz="4000" b="1" dirty="0" err="1"/>
              <a:t>endpointami</a:t>
            </a:r>
            <a:endParaRPr lang="en-US" sz="4000" b="1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13DE4DFA-1061-87FD-B7F0-8EC55969E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42" r="10699" b="-1"/>
          <a:stretch>
            <a:fillRect/>
          </a:stretch>
        </p:blipFill>
        <p:spPr>
          <a:xfrm>
            <a:off x="4617490" y="1"/>
            <a:ext cx="7574510" cy="6858000"/>
          </a:xfrm>
          <a:prstGeom prst="rect">
            <a:avLst/>
          </a:prstGeom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30019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B9D872-933C-D5D6-F40E-038CA878B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l-PL" b="1" dirty="0"/>
              <a:t>Korelacje biologiczne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4465F02-C30F-BA6C-C4D0-0696A5C00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720"/>
            <a:ext cx="10515600" cy="47342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b="1" dirty="0"/>
              <a:t>silne korelacje w CYP (metabolizm):</a:t>
            </a:r>
          </a:p>
          <a:p>
            <a:r>
              <a:rPr lang="pl-PL" dirty="0"/>
              <a:t>cyp2c19 ↔ cyp2c9 (≈ 0.7)</a:t>
            </a:r>
          </a:p>
          <a:p>
            <a:r>
              <a:rPr lang="pl-PL" dirty="0"/>
              <a:t>cyp3a4 ↔ inne CYP</a:t>
            </a:r>
          </a:p>
          <a:p>
            <a:pPr marL="0" indent="0">
              <a:buNone/>
            </a:pPr>
            <a:r>
              <a:rPr lang="pl-PL" dirty="0"/>
              <a:t>→ wspólny mechanizm enzymatyczny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b="1" dirty="0"/>
              <a:t>transport / dystrybucja:</a:t>
            </a:r>
          </a:p>
          <a:p>
            <a:r>
              <a:rPr lang="pl-PL" dirty="0" err="1"/>
              <a:t>pgp</a:t>
            </a:r>
            <a:r>
              <a:rPr lang="pl-PL" dirty="0"/>
              <a:t> ↔ </a:t>
            </a:r>
            <a:r>
              <a:rPr lang="pl-PL" dirty="0" err="1"/>
              <a:t>bbb</a:t>
            </a:r>
            <a:r>
              <a:rPr lang="pl-PL" dirty="0"/>
              <a:t> (umiarkowane)</a:t>
            </a:r>
          </a:p>
          <a:p>
            <a:pPr marL="0" indent="0">
              <a:buNone/>
            </a:pPr>
            <a:r>
              <a:rPr lang="pl-PL" b="1" dirty="0"/>
              <a:t>toksyczność:</a:t>
            </a:r>
          </a:p>
          <a:p>
            <a:r>
              <a:rPr lang="pl-PL" dirty="0" err="1"/>
              <a:t>herg</a:t>
            </a:r>
            <a:r>
              <a:rPr lang="pl-PL" dirty="0"/>
              <a:t>, </a:t>
            </a:r>
            <a:r>
              <a:rPr lang="pl-PL" dirty="0" err="1"/>
              <a:t>dili</a:t>
            </a:r>
            <a:r>
              <a:rPr lang="pl-PL" dirty="0"/>
              <a:t> → słabe / mieszane korelacje</a:t>
            </a:r>
          </a:p>
          <a:p>
            <a:pPr marL="0" indent="0">
              <a:buNone/>
            </a:pPr>
            <a:r>
              <a:rPr lang="pl-PL" b="1" dirty="0" err="1"/>
              <a:t>skin_reaction</a:t>
            </a:r>
            <a:r>
              <a:rPr lang="pl-PL" b="1" dirty="0"/>
              <a:t>:</a:t>
            </a:r>
          </a:p>
          <a:p>
            <a:r>
              <a:rPr lang="pl-PL" dirty="0"/>
              <a:t>bardzo wysokie korelacje (artefakt / dane)</a:t>
            </a:r>
          </a:p>
        </p:txBody>
      </p:sp>
    </p:spTree>
    <p:extLst>
      <p:ext uri="{BB962C8B-B14F-4D97-AF65-F5344CB8AC3E}">
        <p14:creationId xmlns:p14="http://schemas.microsoft.com/office/powerpoint/2010/main" val="32660679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B14C4B-D61A-98C5-D0DC-880E4D1F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461" y="344104"/>
            <a:ext cx="11164614" cy="1325563"/>
          </a:xfrm>
        </p:spPr>
        <p:txBody>
          <a:bodyPr>
            <a:normAutofit/>
          </a:bodyPr>
          <a:lstStyle/>
          <a:p>
            <a:r>
              <a:rPr lang="pl-PL" b="1" dirty="0"/>
              <a:t>HIPOTEZY BADAWCZE NA TYM PRZYKLADZIE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160029-8DD0-ABB5-094E-D869A7BFF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b="1" dirty="0"/>
              <a:t>1. MTL VS STL GAIN</a:t>
            </a:r>
            <a:br>
              <a:rPr lang="pl-PL" dirty="0"/>
            </a:br>
            <a:r>
              <a:rPr lang="pl-PL" b="1" dirty="0"/>
              <a:t>2. POWIAZANIE KORELACJI Z MTL GAIN</a:t>
            </a:r>
            <a:br>
              <a:rPr lang="pl-PL" b="1" dirty="0"/>
            </a:br>
            <a:r>
              <a:rPr lang="pl-PL" b="1" dirty="0"/>
              <a:t>3. POROWNANIE TYPU WEJSC NA MTL AUROC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202712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BF18F9-5635-1493-D9C3-826FD468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1. MTL VS STL GAIN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CE8CA1A-8F2F-F364-2C90-9FEC797E6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/>
              <a:t>WYKRESY DLA KOMBINACJI CECH NA WEJSCIU</a:t>
            </a:r>
          </a:p>
          <a:p>
            <a:pPr marL="0" indent="0">
              <a:buNone/>
            </a:pPr>
            <a:r>
              <a:rPr lang="pl-PL" b="1" dirty="0"/>
              <a:t> </a:t>
            </a:r>
          </a:p>
          <a:p>
            <a:r>
              <a:rPr lang="pl-PL" b="1" dirty="0"/>
              <a:t>1. GNN</a:t>
            </a:r>
          </a:p>
          <a:p>
            <a:r>
              <a:rPr lang="pl-PL" b="1" dirty="0"/>
              <a:t>2. GNN + MORGAN</a:t>
            </a:r>
          </a:p>
          <a:p>
            <a:r>
              <a:rPr lang="pl-PL" b="1" dirty="0"/>
              <a:t>3. GNN + RDKIT</a:t>
            </a:r>
          </a:p>
          <a:p>
            <a:r>
              <a:rPr lang="pl-PL" b="1" dirty="0"/>
              <a:t>4. GNN + MORGAN + RDKIT</a:t>
            </a:r>
          </a:p>
        </p:txBody>
      </p:sp>
    </p:spTree>
    <p:extLst>
      <p:ext uri="{BB962C8B-B14F-4D97-AF65-F5344CB8AC3E}">
        <p14:creationId xmlns:p14="http://schemas.microsoft.com/office/powerpoint/2010/main" val="2246802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80EC94E5-1333-4CC0-FD1E-69D46F0A5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249" y="1048739"/>
            <a:ext cx="11618522" cy="5809261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897F2BA-6E6F-FE3D-F206-E5A211055095}"/>
              </a:ext>
            </a:extLst>
          </p:cNvPr>
          <p:cNvSpPr txBox="1"/>
          <p:nvPr/>
        </p:nvSpPr>
        <p:spPr>
          <a:xfrm>
            <a:off x="953729" y="3266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b="1" dirty="0"/>
              <a:t>1. GNN</a:t>
            </a:r>
            <a:endParaRPr lang="pl-PL" sz="3600" dirty="0"/>
          </a:p>
        </p:txBody>
      </p:sp>
    </p:spTree>
    <p:extLst>
      <p:ext uri="{BB962C8B-B14F-4D97-AF65-F5344CB8AC3E}">
        <p14:creationId xmlns:p14="http://schemas.microsoft.com/office/powerpoint/2010/main" val="2112090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7F5DDE5-9096-36A7-393B-52C389096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405467"/>
            <a:ext cx="10905066" cy="545253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25411C04-DFC7-3C61-3648-E1FF96D52692}"/>
              </a:ext>
            </a:extLst>
          </p:cNvPr>
          <p:cNvSpPr txBox="1"/>
          <p:nvPr/>
        </p:nvSpPr>
        <p:spPr>
          <a:xfrm>
            <a:off x="4257368" y="3856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b="1" dirty="0"/>
              <a:t>2. GNN + MORGAN</a:t>
            </a:r>
            <a:endParaRPr lang="pl-PL" sz="3600" dirty="0"/>
          </a:p>
        </p:txBody>
      </p:sp>
    </p:spTree>
    <p:extLst>
      <p:ext uri="{BB962C8B-B14F-4D97-AF65-F5344CB8AC3E}">
        <p14:creationId xmlns:p14="http://schemas.microsoft.com/office/powerpoint/2010/main" val="25325945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3892BB1-708C-70DA-9743-03AD8C2A3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493" y="1405467"/>
            <a:ext cx="10905066" cy="545253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148A7D1A-564F-8A4C-5C58-09C9E249EF70}"/>
              </a:ext>
            </a:extLst>
          </p:cNvPr>
          <p:cNvSpPr txBox="1"/>
          <p:nvPr/>
        </p:nvSpPr>
        <p:spPr>
          <a:xfrm>
            <a:off x="4660490" y="3659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b="1" dirty="0"/>
              <a:t>3. GNN + RDKIT</a:t>
            </a:r>
            <a:endParaRPr lang="pl-PL" sz="3600" dirty="0"/>
          </a:p>
        </p:txBody>
      </p:sp>
    </p:spTree>
    <p:extLst>
      <p:ext uri="{BB962C8B-B14F-4D97-AF65-F5344CB8AC3E}">
        <p14:creationId xmlns:p14="http://schemas.microsoft.com/office/powerpoint/2010/main" val="821219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480FE7E-2723-7A2C-DB92-D148196B0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983" y="1155017"/>
            <a:ext cx="10905066" cy="545253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B67A36F3-CC5B-E4AE-2003-FE821A0BCA8B}"/>
              </a:ext>
            </a:extLst>
          </p:cNvPr>
          <p:cNvSpPr txBox="1"/>
          <p:nvPr/>
        </p:nvSpPr>
        <p:spPr>
          <a:xfrm>
            <a:off x="3451123" y="25045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b="1" dirty="0"/>
              <a:t>4. GNN + MORGAN + RDKIT</a:t>
            </a:r>
            <a:endParaRPr lang="pl-PL" sz="3600" dirty="0"/>
          </a:p>
        </p:txBody>
      </p:sp>
    </p:spTree>
    <p:extLst>
      <p:ext uri="{BB962C8B-B14F-4D97-AF65-F5344CB8AC3E}">
        <p14:creationId xmlns:p14="http://schemas.microsoft.com/office/powerpoint/2010/main" val="18234810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4C4A4F-85AA-016F-1913-0876D86E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WYNIKI DLA </a:t>
            </a:r>
            <a:r>
              <a:rPr lang="pl-PL" b="1" dirty="0" err="1"/>
              <a:t>RDKit</a:t>
            </a:r>
            <a:r>
              <a:rPr lang="pl-PL" b="1" dirty="0"/>
              <a:t> + Morgan + GNN  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C106E50-F250-21F8-1AAF-D2AAEB0C0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/>
              <a:t> Interpretacja</a:t>
            </a:r>
          </a:p>
          <a:p>
            <a:r>
              <a:rPr lang="pl-PL" dirty="0"/>
              <a:t>dodanie </a:t>
            </a:r>
            <a:r>
              <a:rPr lang="pl-PL" b="1" dirty="0" err="1"/>
              <a:t>RDKit</a:t>
            </a:r>
            <a:r>
              <a:rPr lang="pl-PL" b="1" dirty="0"/>
              <a:t> + Morgan + GNN</a:t>
            </a:r>
            <a:r>
              <a:rPr lang="pl-PL" dirty="0"/>
              <a:t>: </a:t>
            </a:r>
          </a:p>
          <a:p>
            <a:pPr lvl="1"/>
            <a:r>
              <a:rPr lang="pl-PL" dirty="0"/>
              <a:t>poprawia wyniki dla większości </a:t>
            </a:r>
            <a:r>
              <a:rPr lang="pl-PL" dirty="0" err="1"/>
              <a:t>tasków</a:t>
            </a:r>
            <a:r>
              <a:rPr lang="pl-PL" dirty="0"/>
              <a:t> </a:t>
            </a:r>
          </a:p>
          <a:p>
            <a:pPr lvl="1"/>
            <a:r>
              <a:rPr lang="pl-PL" dirty="0"/>
              <a:t>szczególnie dla: </a:t>
            </a:r>
          </a:p>
          <a:p>
            <a:pPr lvl="2"/>
            <a:r>
              <a:rPr lang="pl-PL" dirty="0" err="1"/>
              <a:t>skin_reaction</a:t>
            </a:r>
            <a:r>
              <a:rPr lang="pl-PL" dirty="0"/>
              <a:t> (bardzo duży </a:t>
            </a:r>
            <a:r>
              <a:rPr lang="pl-PL" dirty="0" err="1"/>
              <a:t>gain</a:t>
            </a:r>
            <a:r>
              <a:rPr lang="pl-PL" dirty="0"/>
              <a:t>) </a:t>
            </a:r>
          </a:p>
          <a:p>
            <a:pPr lvl="2"/>
            <a:r>
              <a:rPr lang="pl-PL" dirty="0"/>
              <a:t>cyp2c9, cyp2d6, cyp2c19 </a:t>
            </a:r>
          </a:p>
          <a:p>
            <a:pPr lvl="2"/>
            <a:r>
              <a:rPr lang="pl-PL" dirty="0" err="1"/>
              <a:t>pgp_broccatelli</a:t>
            </a:r>
            <a:r>
              <a:rPr lang="pl-PL" dirty="0"/>
              <a:t>, </a:t>
            </a:r>
            <a:r>
              <a:rPr lang="pl-PL" dirty="0" err="1"/>
              <a:t>dili</a:t>
            </a:r>
            <a:r>
              <a:rPr lang="pl-PL" dirty="0"/>
              <a:t> </a:t>
            </a:r>
          </a:p>
          <a:p>
            <a:pPr lvl="2"/>
            <a:endParaRPr lang="pl-PL" dirty="0"/>
          </a:p>
          <a:p>
            <a:pPr marL="0" indent="0">
              <a:buNone/>
            </a:pPr>
            <a:r>
              <a:rPr lang="pl-PL" dirty="0"/>
              <a:t>Tylko pojedyncze przypadki mają </a:t>
            </a:r>
            <a:r>
              <a:rPr lang="pl-PL" b="1" dirty="0" err="1"/>
              <a:t>negative</a:t>
            </a:r>
            <a:r>
              <a:rPr lang="pl-PL" b="1" dirty="0"/>
              <a:t> transfer</a:t>
            </a:r>
            <a:r>
              <a:rPr lang="pl-PL" dirty="0"/>
              <a:t> </a:t>
            </a:r>
          </a:p>
          <a:p>
            <a:pPr marL="0" indent="0">
              <a:buNone/>
            </a:pPr>
            <a:r>
              <a:rPr lang="pl-PL" b="1" dirty="0"/>
              <a:t>więcej cech zwykle pomaga (lepsza reprezentacja) 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962897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BA2AC5-FB49-9353-2C46-F5D3C57C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2. POWIAZANIE KORELACJI Z MTL GAIN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4450B7-DCC9-BE5A-FFE0-CCDD10E4B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135554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758B317-2B0B-1295-EDD7-E5E0F8357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3" y="2856604"/>
            <a:ext cx="3684498" cy="29672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 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Korelacja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vs MTL gain 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dla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samego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GNN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8C8AE6D-CA47-2E46-1EE7-33298DFD5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1357" y="467208"/>
            <a:ext cx="688788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613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5929D0-09FF-A4C9-AF31-05A7EF786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Korelacja vs MTL </a:t>
            </a:r>
            <a:r>
              <a:rPr lang="pl-PL" b="1" dirty="0" err="1"/>
              <a:t>gain</a:t>
            </a:r>
            <a:r>
              <a:rPr lang="pl-PL" b="1" dirty="0"/>
              <a:t> dla samego GNN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4A76668-1468-3464-6C3D-83F7D63EE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/>
              <a:t>Model pokazuje słabą zależność między korelacją a zyskiem z MTL.</a:t>
            </a:r>
          </a:p>
          <a:p>
            <a:pPr marL="0" indent="0">
              <a:buNone/>
            </a:pPr>
            <a:br>
              <a:rPr lang="pl-PL" b="1" dirty="0"/>
            </a:br>
            <a:r>
              <a:rPr lang="pl-PL" dirty="0"/>
              <a:t>Punkty są mocno rozproszone, co oznacza niestabilny transfer wiedzy.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/>
              <a:t>Dla części zadań (</a:t>
            </a:r>
            <a:r>
              <a:rPr lang="pl-PL" dirty="0" err="1"/>
              <a:t>hERG</a:t>
            </a:r>
            <a:r>
              <a:rPr lang="pl-PL" dirty="0"/>
              <a:t>, DILI, </a:t>
            </a:r>
            <a:r>
              <a:rPr lang="pl-PL" dirty="0" err="1"/>
              <a:t>Clintox</a:t>
            </a:r>
            <a:r>
              <a:rPr lang="pl-PL" dirty="0"/>
              <a:t>) obserwujemy spadek jakości.</a:t>
            </a:r>
            <a:br>
              <a:rPr lang="pl-PL" dirty="0"/>
            </a:br>
            <a:r>
              <a:rPr lang="pl-PL" dirty="0"/>
              <a:t>Model nie wykorzystuje dobrze korelacji między zadaniami.</a:t>
            </a:r>
            <a:br>
              <a:rPr lang="pl-PL" dirty="0"/>
            </a:br>
            <a:r>
              <a:rPr lang="pl-PL" b="1" dirty="0"/>
              <a:t>Powód</a:t>
            </a:r>
            <a:r>
              <a:rPr lang="pl-PL" dirty="0"/>
              <a:t>: brak globalnych cech → tylko lokalna struktura grafu</a:t>
            </a:r>
          </a:p>
        </p:txBody>
      </p:sp>
    </p:spTree>
    <p:extLst>
      <p:ext uri="{BB962C8B-B14F-4D97-AF65-F5344CB8AC3E}">
        <p14:creationId xmlns:p14="http://schemas.microsoft.com/office/powerpoint/2010/main" val="39695914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D63BB60-63B9-50E8-D73B-6CDADD33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5" y="2844449"/>
            <a:ext cx="3540869" cy="33374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4000" b="1" dirty="0">
                <a:solidFill>
                  <a:srgbClr val="FFFFFF"/>
                </a:solidFill>
              </a:rPr>
              <a:t>2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Korelacja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vs MTL gain GNN + 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cechy</a:t>
            </a:r>
            <a:endParaRPr lang="en-US" sz="3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76B796F9-CB17-BF08-9F1A-279257A28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0041" y="467208"/>
            <a:ext cx="6750522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4389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FF5E14-9929-16D6-64D9-3D61327F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Korelacja vs MTL </a:t>
            </a:r>
            <a:r>
              <a:rPr lang="pl-PL" b="1" dirty="0" err="1"/>
              <a:t>gain</a:t>
            </a:r>
            <a:r>
              <a:rPr lang="pl-PL" b="1" dirty="0"/>
              <a:t> GNN + cechy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CB369D-D28E-6FCF-7E79-69C6038DD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/>
              <a:t>Widoczna jest wyraźna dodatnia zależność</a:t>
            </a:r>
            <a:r>
              <a:rPr lang="pl-PL" dirty="0"/>
              <a:t>: </a:t>
            </a:r>
          </a:p>
          <a:p>
            <a:pPr marL="0" indent="0">
              <a:buNone/>
            </a:pPr>
            <a:r>
              <a:rPr lang="pl-PL" dirty="0"/>
              <a:t>większa korelacja → większy zysk.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/>
              <a:t>Punkty są bardziej uporządkowane względem linii trendu.</a:t>
            </a:r>
            <a:br>
              <a:rPr lang="pl-PL" dirty="0"/>
            </a:br>
            <a:r>
              <a:rPr lang="pl-PL" b="1" dirty="0"/>
              <a:t>Większość zadań ma dodatni </a:t>
            </a:r>
            <a:r>
              <a:rPr lang="pl-PL" b="1" dirty="0" err="1"/>
              <a:t>gain</a:t>
            </a:r>
            <a:r>
              <a:rPr lang="pl-PL" b="1" dirty="0"/>
              <a:t> </a:t>
            </a:r>
            <a:r>
              <a:rPr lang="pl-PL" dirty="0"/>
              <a:t>(MTL działa poprawnie).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/>
              <a:t>Negatywny transfer jest dużo mniejszy.</a:t>
            </a:r>
            <a:br>
              <a:rPr lang="pl-PL" dirty="0"/>
            </a:br>
            <a:r>
              <a:rPr lang="pl-PL" b="1" dirty="0"/>
              <a:t>Powód</a:t>
            </a:r>
            <a:r>
              <a:rPr lang="pl-PL" dirty="0"/>
              <a:t>: bogatsza reprezentacja (struktura + właściwości + fragmenty).</a:t>
            </a:r>
          </a:p>
        </p:txBody>
      </p:sp>
    </p:spTree>
    <p:extLst>
      <p:ext uri="{BB962C8B-B14F-4D97-AF65-F5344CB8AC3E}">
        <p14:creationId xmlns:p14="http://schemas.microsoft.com/office/powerpoint/2010/main" val="37987859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5F2FAA-52D7-C62B-4DAF-37DB86A0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dirty="0"/>
              <a:t>3. POROWNANIE TYPU WEJSC NA MTL AUROC</a:t>
            </a:r>
            <a:endParaRPr lang="pl-PL" sz="4000" dirty="0"/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65D4F2BA-7D67-5BCE-32A3-310316372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93149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E89FD7F-7224-F731-4006-B34FDC312B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381" y="495189"/>
            <a:ext cx="10073170" cy="586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830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3E03F7-DBDA-493E-57C6-4D9FB199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Obserwacje</a:t>
            </a:r>
            <a:r>
              <a:rPr lang="pl-PL" dirty="0"/>
              <a:t>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681D93-7FA2-B7A7-C173-FEB5AC4E6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9"/>
            <a:ext cx="10681252" cy="4863410"/>
          </a:xfrm>
        </p:spPr>
        <p:txBody>
          <a:bodyPr>
            <a:normAutofit lnSpcReduction="10000"/>
          </a:bodyPr>
          <a:lstStyle/>
          <a:p>
            <a:r>
              <a:rPr lang="pl-PL" dirty="0"/>
              <a:t>Najlepszy wynik: </a:t>
            </a:r>
            <a:r>
              <a:rPr lang="pl-PL" b="1" dirty="0"/>
              <a:t>G1_R1_M1 (0.8868)</a:t>
            </a:r>
            <a:r>
              <a:rPr lang="pl-PL" dirty="0"/>
              <a:t> → połączenie grafu + </a:t>
            </a:r>
            <a:r>
              <a:rPr lang="pl-PL" dirty="0" err="1"/>
              <a:t>RDKit</a:t>
            </a:r>
            <a:r>
              <a:rPr lang="pl-PL" dirty="0"/>
              <a:t> + Morgan daje najwyższą jakość </a:t>
            </a:r>
          </a:p>
          <a:p>
            <a:r>
              <a:rPr lang="pl-PL" dirty="0"/>
              <a:t>Sam graf (</a:t>
            </a:r>
            <a:r>
              <a:rPr lang="pl-PL" b="1" dirty="0"/>
              <a:t>G1_R0_M0 = 0.8826</a:t>
            </a:r>
            <a:r>
              <a:rPr lang="pl-PL" dirty="0"/>
              <a:t>) jest już bardzo silny </a:t>
            </a:r>
          </a:p>
          <a:p>
            <a:r>
              <a:rPr lang="pl-PL" dirty="0"/>
              <a:t>Dodanie pojedynczych cech (</a:t>
            </a:r>
            <a:r>
              <a:rPr lang="pl-PL" dirty="0" err="1"/>
              <a:t>RDKit</a:t>
            </a:r>
            <a:r>
              <a:rPr lang="pl-PL" dirty="0"/>
              <a:t> lub Morgan) daje niewielką poprawę </a:t>
            </a:r>
          </a:p>
          <a:p>
            <a:r>
              <a:rPr lang="pl-PL" dirty="0"/>
              <a:t>Brak grafu (</a:t>
            </a:r>
            <a:r>
              <a:rPr lang="pl-PL" b="1" dirty="0"/>
              <a:t>G0_</a:t>
            </a:r>
            <a:r>
              <a:rPr lang="pl-PL" dirty="0"/>
              <a:t>*): wyraźny spadek jakości </a:t>
            </a:r>
          </a:p>
          <a:p>
            <a:r>
              <a:rPr lang="pl-PL" dirty="0"/>
              <a:t>Najgorszy wynik: </a:t>
            </a:r>
            <a:r>
              <a:rPr lang="pl-PL" b="1" dirty="0"/>
              <a:t>tylko </a:t>
            </a:r>
            <a:r>
              <a:rPr lang="pl-PL" b="1" dirty="0" err="1"/>
              <a:t>RDKit</a:t>
            </a:r>
            <a:r>
              <a:rPr lang="pl-PL" b="1" dirty="0"/>
              <a:t> (0.7456)</a:t>
            </a:r>
            <a:r>
              <a:rPr lang="pl-PL" dirty="0"/>
              <a:t> 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b="1" dirty="0"/>
              <a:t>Wniosek:</a:t>
            </a:r>
            <a:br>
              <a:rPr lang="pl-PL" b="1" dirty="0"/>
            </a:br>
            <a:r>
              <a:rPr lang="pl-PL" b="1" dirty="0"/>
              <a:t>Graf jest kluczowy, a deskryptory (</a:t>
            </a:r>
            <a:r>
              <a:rPr lang="pl-PL" b="1" dirty="0" err="1"/>
              <a:t>RDKit</a:t>
            </a:r>
            <a:r>
              <a:rPr lang="pl-PL" b="1" dirty="0"/>
              <a:t>, Morgan) działają jako uzupełnienie, nie zamiennik.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364803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4AF5E3-6DDA-A123-C72F-1BA4881E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Najważniejsze obserwacje z projektu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EC984C9-2513-D767-C967-FF1F0D7D5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Cechy typu (</a:t>
            </a:r>
            <a:r>
              <a:rPr lang="pl-PL" b="1" dirty="0" err="1"/>
              <a:t>RDKit</a:t>
            </a:r>
            <a:r>
              <a:rPr lang="pl-PL" b="1" dirty="0"/>
              <a:t>, Morgan) nie separują dobrze klas</a:t>
            </a:r>
          </a:p>
          <a:p>
            <a:r>
              <a:rPr lang="pl-PL" dirty="0" err="1"/>
              <a:t>Embeddingi</a:t>
            </a:r>
            <a:r>
              <a:rPr lang="pl-PL" dirty="0"/>
              <a:t> z GNN pokazują częściową separację → model uczy się sensownych reprezentacji</a:t>
            </a:r>
          </a:p>
          <a:p>
            <a:r>
              <a:rPr lang="pl-PL" dirty="0"/>
              <a:t>MTL pomaga szczególnie przy zadaniach z małą ilością danych</a:t>
            </a:r>
          </a:p>
          <a:p>
            <a:r>
              <a:rPr lang="pl-PL" b="1" dirty="0"/>
              <a:t>Model uczy się wspólnych wzorców chemicznych między </a:t>
            </a:r>
            <a:r>
              <a:rPr lang="pl-PL" b="1" dirty="0" err="1"/>
              <a:t>taskami</a:t>
            </a:r>
            <a:endParaRPr lang="pl-PL" b="1" dirty="0"/>
          </a:p>
          <a:p>
            <a:r>
              <a:rPr lang="pl-PL" b="1" dirty="0"/>
              <a:t>Korelacja miedzy zadaniami pomaga w transferze wiedzy</a:t>
            </a:r>
          </a:p>
        </p:txBody>
      </p:sp>
    </p:spTree>
    <p:extLst>
      <p:ext uri="{BB962C8B-B14F-4D97-AF65-F5344CB8AC3E}">
        <p14:creationId xmlns:p14="http://schemas.microsoft.com/office/powerpoint/2010/main" val="34941263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7B2D10-6861-41A1-ECF6-FC618BA4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Wnioski z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CE8C5CF-7DC2-DCEE-44B7-50E78C042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MTL jest bardziej odpowiedni dla problemów ADMET niż podejście single-</a:t>
            </a:r>
            <a:r>
              <a:rPr lang="pl-PL" dirty="0" err="1"/>
              <a:t>task</a:t>
            </a:r>
            <a:r>
              <a:rPr lang="pl-PL" dirty="0"/>
              <a:t> </a:t>
            </a:r>
          </a:p>
          <a:p>
            <a:r>
              <a:rPr lang="pl-PL" dirty="0"/>
              <a:t>GNN daje lepszą reprezentację struktury chemicznej niż ręczne deskryptory </a:t>
            </a:r>
          </a:p>
          <a:p>
            <a:r>
              <a:rPr lang="pl-PL" dirty="0"/>
              <a:t>Wspólne uczenie wielu właściwości poprawia generalizację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b="1" dirty="0"/>
              <a:t>Model MTL oparty na GNN uczy wspólną reprezentację molekuł, co pozwala lepiej przewidywać właściwości ADMET mimo trudnych, niekompletnych danych.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846228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6BB425-DED7-A73C-3115-42160A90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0"/>
            <a:ext cx="10584426" cy="1147303"/>
          </a:xfrm>
        </p:spPr>
        <p:txBody>
          <a:bodyPr/>
          <a:lstStyle/>
          <a:p>
            <a:r>
              <a:rPr lang="pl-PL" b="1" dirty="0"/>
              <a:t>Uwagi do projektu -</a:t>
            </a:r>
            <a:r>
              <a:rPr lang="pl-PL" b="1" dirty="0" err="1"/>
              <a:t>XGBoost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9A4A0B-5E01-E697-9826-ECFD09059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140542"/>
            <a:ext cx="10515600" cy="5459208"/>
          </a:xfrm>
        </p:spPr>
        <p:txBody>
          <a:bodyPr>
            <a:normAutofit lnSpcReduction="10000"/>
          </a:bodyPr>
          <a:lstStyle/>
          <a:p>
            <a:r>
              <a:rPr lang="pl-PL" b="1" dirty="0" err="1"/>
              <a:t>XGBoost</a:t>
            </a:r>
            <a:r>
              <a:rPr lang="pl-PL" dirty="0"/>
              <a:t> osiąga bardzo zbliżone wyniki AUROC dla większości zadań</a:t>
            </a:r>
          </a:p>
          <a:p>
            <a:endParaRPr lang="pl-PL" dirty="0"/>
          </a:p>
          <a:p>
            <a:r>
              <a:rPr lang="pl-PL" b="1" dirty="0" err="1"/>
              <a:t>XGBoost</a:t>
            </a:r>
            <a:r>
              <a:rPr lang="pl-PL" dirty="0"/>
              <a:t> stanowi silny punkt odniesienia i w wielu przypadkach jest wystarczający </a:t>
            </a:r>
          </a:p>
          <a:p>
            <a:endParaRPr lang="pl-PL" dirty="0"/>
          </a:p>
          <a:p>
            <a:r>
              <a:rPr lang="pl-PL" dirty="0"/>
              <a:t>Złożone modele (GNN, MTL) mają sens głównie przy większych danych lub gdy chcemy uczyć reprezentacji grafowych </a:t>
            </a:r>
            <a:r>
              <a:rPr lang="pl-PL" dirty="0" err="1"/>
              <a:t>zwiazkow</a:t>
            </a:r>
            <a:r>
              <a:rPr lang="pl-PL" dirty="0"/>
              <a:t> 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b="1" dirty="0" err="1"/>
              <a:t>XGBoost</a:t>
            </a:r>
            <a:r>
              <a:rPr lang="pl-PL" b="1" dirty="0"/>
              <a:t> zapewnia bardzo wysoką skuteczność przy minimalnej złożoności, co czyni go praktycznym i trudnym do pobicia </a:t>
            </a:r>
            <a:r>
              <a:rPr lang="pl-PL" b="1" dirty="0" err="1"/>
              <a:t>baseline’em</a:t>
            </a:r>
            <a:r>
              <a:rPr lang="pl-PL" b="1" dirty="0"/>
              <a:t> dla problemu ADMET.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9006119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5" name="Rectangle 1741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37EE9E2-F09B-DB98-7C37-7030BD98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l-PL" sz="5400" b="1"/>
              <a:t>Dziękujemy za uwagę!</a:t>
            </a:r>
          </a:p>
        </p:txBody>
      </p:sp>
      <p:sp>
        <p:nvSpPr>
          <p:cNvPr id="174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855866A-DB89-68B5-F374-C00EDB325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pl-PL" sz="2200"/>
              <a:t>Marcin Sztukowski</a:t>
            </a:r>
          </a:p>
          <a:p>
            <a:r>
              <a:rPr lang="pl-PL" sz="2200"/>
              <a:t>Jakub Poznanski</a:t>
            </a:r>
          </a:p>
          <a:p>
            <a:r>
              <a:rPr lang="pl-PL" sz="2200"/>
              <a:t>Michal Kopczewski</a:t>
            </a:r>
          </a:p>
          <a:p>
            <a:endParaRPr lang="pl-PL" sz="2200"/>
          </a:p>
        </p:txBody>
      </p:sp>
      <p:pic>
        <p:nvPicPr>
          <p:cNvPr id="17410" name="Picture 2" descr="ADMET-AI">
            <a:extLst>
              <a:ext uri="{FF2B5EF4-FFF2-40B4-BE49-F238E27FC236}">
                <a16:creationId xmlns:a16="http://schemas.microsoft.com/office/drawing/2014/main" id="{0C14E5AC-63F7-FDD4-DB87-723BCFBA8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54610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3361</Words>
  <Application>Microsoft Office PowerPoint</Application>
  <PresentationFormat>Panoramiczny</PresentationFormat>
  <Paragraphs>484</Paragraphs>
  <Slides>92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92</vt:i4>
      </vt:variant>
    </vt:vector>
  </HeadingPairs>
  <TitlesOfParts>
    <vt:vector size="98" baseType="lpstr">
      <vt:lpstr>Aptos</vt:lpstr>
      <vt:lpstr>Aptos Display</vt:lpstr>
      <vt:lpstr>Arial</vt:lpstr>
      <vt:lpstr>Cambria Math</vt:lpstr>
      <vt:lpstr>Courier New</vt:lpstr>
      <vt:lpstr>Motyw pakietu Office</vt:lpstr>
      <vt:lpstr>9. Predykcja profilu ADMET z wykorzystaniem multi-task learning </vt:lpstr>
      <vt:lpstr>Predykcja profilu ADMET z Multi-Task Learning</vt:lpstr>
      <vt:lpstr>Prezentacja programu PowerPoint</vt:lpstr>
      <vt:lpstr>CO TO ADMET-PROPERTIES?</vt:lpstr>
      <vt:lpstr>Dlaczego skupiamy się na ADMET?</vt:lpstr>
      <vt:lpstr>Problem związany z ADMET</vt:lpstr>
      <vt:lpstr>Pomysł projektu</vt:lpstr>
      <vt:lpstr>Dataset (TDC ADMET)</vt:lpstr>
      <vt:lpstr>Struktura datasetu </vt:lpstr>
      <vt:lpstr>Problemy w łączeniu endpointow</vt:lpstr>
      <vt:lpstr>1. PROBLEM SPLITS</vt:lpstr>
      <vt:lpstr>2. PROBLEM DATA SPARSITY </vt:lpstr>
      <vt:lpstr>3. CLASS BALANCE AND TASK COVERAGE</vt:lpstr>
      <vt:lpstr>Prezentacja programu PowerPoint</vt:lpstr>
      <vt:lpstr>Prezentacja programu PowerPoint</vt:lpstr>
      <vt:lpstr>Wnioski z obserwacji problemów danych</vt:lpstr>
      <vt:lpstr>TSNE dla związków chemicznych</vt:lpstr>
      <vt:lpstr>Prezentacja programu PowerPoint</vt:lpstr>
      <vt:lpstr>Prezentacja programu PowerPoint</vt:lpstr>
      <vt:lpstr>Prezentacja programu PowerPoint</vt:lpstr>
      <vt:lpstr>Obserwacje z Embeddingow GIN w TSNE</vt:lpstr>
      <vt:lpstr>Dlaczego MTL się sprawdzi dla tych danych?</vt:lpstr>
      <vt:lpstr>Klaster 1: Metabolizm (CYP)</vt:lpstr>
      <vt:lpstr>Klaster 1: Metabolizm (CYP)</vt:lpstr>
      <vt:lpstr>Klaster 2: Transport i bariery</vt:lpstr>
      <vt:lpstr>Klaster 3: Toksyczność</vt:lpstr>
      <vt:lpstr>Czym jest korelacja między zadaniami?</vt:lpstr>
      <vt:lpstr>Korelacja - co dokładnie robimy?</vt:lpstr>
      <vt:lpstr>Co oznacza korelacja w tym projekcie?</vt:lpstr>
      <vt:lpstr>Prezentacja programu PowerPoint</vt:lpstr>
      <vt:lpstr>Najważniejsze zależności - CYP</vt:lpstr>
      <vt:lpstr>Najważniejsze zależności - Transport i metabolizm</vt:lpstr>
      <vt:lpstr>Najważniejsze zależności - Toksyczność</vt:lpstr>
      <vt:lpstr>Słabe zależności</vt:lpstr>
      <vt:lpstr>Najważniejsza ujemna korelacja</vt:lpstr>
      <vt:lpstr>Co Korelacja oznacza dla modelu MTL ?</vt:lpstr>
      <vt:lpstr>Problem ujemnej korelacji w MTL</vt:lpstr>
      <vt:lpstr>Możliwe rozwiązania ujemnej korelacji</vt:lpstr>
      <vt:lpstr>PCGRAD</vt:lpstr>
      <vt:lpstr>Schemat modelu</vt:lpstr>
      <vt:lpstr>Dlaczego GNN?</vt:lpstr>
      <vt:lpstr>Reprezentacja czasteczki</vt:lpstr>
      <vt:lpstr>Noga grafowa (GIN)</vt:lpstr>
      <vt:lpstr>Prezentacja programu PowerPoint</vt:lpstr>
      <vt:lpstr>Dlaczego suma?</vt:lpstr>
      <vt:lpstr>Noga wektorowa (MLP)</vt:lpstr>
      <vt:lpstr>Multi-Head (MTL)</vt:lpstr>
      <vt:lpstr>Funkcja straty</vt:lpstr>
      <vt:lpstr>Hipotezy badawcze</vt:lpstr>
      <vt:lpstr>1. Multi-Task Learning (MTL) vs Single-Task Learning (STL)</vt:lpstr>
      <vt:lpstr>METRYKI </vt:lpstr>
      <vt:lpstr>TRENING SAMEGO GNN - LOSS </vt:lpstr>
      <vt:lpstr>Prezentacja programu PowerPoint</vt:lpstr>
      <vt:lpstr>Prezentacja programu PowerPoint</vt:lpstr>
      <vt:lpstr>SKUTECZNOSC SAMEGO GIN</vt:lpstr>
      <vt:lpstr>TRENING GNN + RDKIT + MORGAN - LOSS</vt:lpstr>
      <vt:lpstr>Prezentacja programu PowerPoint</vt:lpstr>
      <vt:lpstr>Prezentacja programu PowerPoint</vt:lpstr>
      <vt:lpstr>SKUTECZNOSC GIN + MORGAN + RDKIT</vt:lpstr>
      <vt:lpstr>Wnioski</vt:lpstr>
      <vt:lpstr>2. czy korelacja daje zysk MTL</vt:lpstr>
      <vt:lpstr>WYKRESY KORELACJA VS MTL GAIN</vt:lpstr>
      <vt:lpstr>Prezentacja programu PowerPoint</vt:lpstr>
      <vt:lpstr>Prezentacja programu PowerPoint</vt:lpstr>
      <vt:lpstr>Wniosek</vt:lpstr>
      <vt:lpstr>Intepretacja wplywu typu wejść na wynik AUROC</vt:lpstr>
      <vt:lpstr>Prezentacja programu PowerPoint</vt:lpstr>
      <vt:lpstr>MTL VS STL DLA INNEGO DATASETU</vt:lpstr>
      <vt:lpstr>Quick Data Stats</vt:lpstr>
      <vt:lpstr>Data sparsity dla 13 endpoints</vt:lpstr>
      <vt:lpstr>Prezentacja programu PowerPoint</vt:lpstr>
      <vt:lpstr>Korelacje miedzy endpointami</vt:lpstr>
      <vt:lpstr>Korelacje biologiczne</vt:lpstr>
      <vt:lpstr>HIPOTEZY BADAWCZE NA TYM PRZYKLADZIE</vt:lpstr>
      <vt:lpstr>1. MTL VS STL GAIN</vt:lpstr>
      <vt:lpstr>Prezentacja programu PowerPoint</vt:lpstr>
      <vt:lpstr>Prezentacja programu PowerPoint</vt:lpstr>
      <vt:lpstr>Prezentacja programu PowerPoint</vt:lpstr>
      <vt:lpstr>Prezentacja programu PowerPoint</vt:lpstr>
      <vt:lpstr>WYNIKI DLA RDKit + Morgan + GNN  </vt:lpstr>
      <vt:lpstr>2. POWIAZANIE KORELACJI Z MTL GAIN</vt:lpstr>
      <vt:lpstr>1. Korelacja vs MTL gain dla samego GNN</vt:lpstr>
      <vt:lpstr>Korelacja vs MTL gain dla samego GNN</vt:lpstr>
      <vt:lpstr>2. Korelacja vs MTL gain GNN + cechy</vt:lpstr>
      <vt:lpstr>Korelacja vs MTL gain GNN + cechy</vt:lpstr>
      <vt:lpstr>3. POROWNANIE TYPU WEJSC NA MTL AUROC</vt:lpstr>
      <vt:lpstr>Prezentacja programu PowerPoint</vt:lpstr>
      <vt:lpstr>Obserwacje </vt:lpstr>
      <vt:lpstr>Najważniejsze obserwacje z projektu</vt:lpstr>
      <vt:lpstr>Wnioski z projektu</vt:lpstr>
      <vt:lpstr>Uwagi do projektu -XGBoost</vt:lpstr>
      <vt:lpstr>Dziękujemy za uwagę!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Sztukowski</dc:creator>
  <cp:lastModifiedBy>Marcin Sztukowski</cp:lastModifiedBy>
  <cp:revision>2</cp:revision>
  <dcterms:created xsi:type="dcterms:W3CDTF">2026-04-14T16:26:54Z</dcterms:created>
  <dcterms:modified xsi:type="dcterms:W3CDTF">2026-04-19T17:01:48Z</dcterms:modified>
</cp:coreProperties>
</file>